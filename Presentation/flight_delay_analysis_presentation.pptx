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8" r:id="rId3"/>
    <p:sldId id="259" r:id="rId4"/>
    <p:sldId id="260" r:id="rId5"/>
    <p:sldId id="261" r:id="rId6"/>
    <p:sldId id="274" r:id="rId7"/>
    <p:sldId id="262" r:id="rId8"/>
    <p:sldId id="267" r:id="rId9"/>
    <p:sldId id="269" r:id="rId10"/>
    <p:sldId id="271" r:id="rId11"/>
    <p:sldId id="272" r:id="rId12"/>
    <p:sldId id="268" r:id="rId13"/>
    <p:sldId id="264" r:id="rId14"/>
    <p:sldId id="275" r:id="rId15"/>
    <p:sldId id="265" r:id="rId16"/>
    <p:sldId id="270" r:id="rId17"/>
  </p:sldIdLst>
  <p:sldSz cx="18288000" cy="10287000"/>
  <p:notesSz cx="6858000" cy="9144000"/>
  <p:embeddedFontLst>
    <p:embeddedFont>
      <p:font typeface="Lemon Tuesday" panose="020B0604020202020204" charset="0"/>
      <p:regular r:id="rId18"/>
    </p:embeddedFont>
    <p:embeddedFont>
      <p:font typeface="Open Sans" pitchFamily="2" charset="0"/>
      <p:regular r:id="rId19"/>
      <p:bold r:id="rId20"/>
      <p:italic r:id="rId21"/>
      <p:boldItalic r:id="rId22"/>
    </p:embeddedFont>
    <p:embeddedFont>
      <p:font typeface="Open Sans Bold" charset="0"/>
      <p:regular r:id="rId23"/>
    </p:embeddedFont>
    <p:embeddedFont>
      <p:font typeface="Open Sans Extra Bold" panose="020B0604020202020204"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7" d="100"/>
          <a:sy n="47" d="100"/>
        </p:scale>
        <p:origin x="50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jpe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image" Target="../media/image17.svg"/><Relationship Id="rId3" Type="http://schemas.openxmlformats.org/officeDocument/2006/relationships/image" Target="../media/image11.svg"/><Relationship Id="rId7" Type="http://schemas.openxmlformats.org/officeDocument/2006/relationships/image" Target="../media/image9.svg"/><Relationship Id="rId12"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8.png"/><Relationship Id="rId11" Type="http://schemas.openxmlformats.org/officeDocument/2006/relationships/image" Target="../media/image15.svg"/><Relationship Id="rId5" Type="http://schemas.openxmlformats.org/officeDocument/2006/relationships/image" Target="../media/image7.svg"/><Relationship Id="rId15" Type="http://schemas.openxmlformats.org/officeDocument/2006/relationships/image" Target="../media/image19.sv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svg"/><Relationship Id="rId14"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1.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9.sv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3.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9.sv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5.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4.png"/><Relationship Id="rId5" Type="http://schemas.openxmlformats.org/officeDocument/2006/relationships/image" Target="../media/image9.sv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7.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6.png"/><Relationship Id="rId5" Type="http://schemas.openxmlformats.org/officeDocument/2006/relationships/image" Target="../media/image9.sv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7.svg"/><Relationship Id="rId7" Type="http://schemas.openxmlformats.org/officeDocument/2006/relationships/image" Target="../media/image29.pn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9.svg"/><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5" Type="http://schemas.openxmlformats.org/officeDocument/2006/relationships/image" Target="../media/image9.svg"/><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Layout" Target="../slideLayouts/slideLayout7.xml"/><Relationship Id="rId6" Type="http://schemas.openxmlformats.org/officeDocument/2006/relationships/image" Target="../media/image30.jpeg"/><Relationship Id="rId5" Type="http://schemas.openxmlformats.org/officeDocument/2006/relationships/image" Target="../media/image9.svg"/><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032307" y="1028700"/>
            <a:ext cx="16326447" cy="8087169"/>
          </a:xfrm>
          <a:custGeom>
            <a:avLst/>
            <a:gdLst/>
            <a:ahLst/>
            <a:cxnLst/>
            <a:rect l="l" t="t" r="r" b="b"/>
            <a:pathLst>
              <a:path w="16326447" h="8087169">
                <a:moveTo>
                  <a:pt x="0" y="0"/>
                </a:moveTo>
                <a:lnTo>
                  <a:pt x="16326447" y="0"/>
                </a:lnTo>
                <a:lnTo>
                  <a:pt x="16326447" y="8087169"/>
                </a:lnTo>
                <a:lnTo>
                  <a:pt x="0" y="80871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p:cNvGrpSpPr/>
          <p:nvPr/>
        </p:nvGrpSpPr>
        <p:grpSpPr>
          <a:xfrm>
            <a:off x="0" y="0"/>
            <a:ext cx="8032025" cy="10817352"/>
            <a:chOff x="0" y="0"/>
            <a:chExt cx="2115431" cy="2849015"/>
          </a:xfrm>
        </p:grpSpPr>
        <p:sp>
          <p:nvSpPr>
            <p:cNvPr id="4" name="Freeform 4"/>
            <p:cNvSpPr/>
            <p:nvPr/>
          </p:nvSpPr>
          <p:spPr>
            <a:xfrm>
              <a:off x="0" y="0"/>
              <a:ext cx="2115431" cy="2849014"/>
            </a:xfrm>
            <a:custGeom>
              <a:avLst/>
              <a:gdLst/>
              <a:ahLst/>
              <a:cxnLst/>
              <a:rect l="l" t="t" r="r" b="b"/>
              <a:pathLst>
                <a:path w="2115431" h="2849014">
                  <a:moveTo>
                    <a:pt x="0" y="0"/>
                  </a:moveTo>
                  <a:lnTo>
                    <a:pt x="2115431" y="0"/>
                  </a:lnTo>
                  <a:lnTo>
                    <a:pt x="2115431" y="2849014"/>
                  </a:lnTo>
                  <a:lnTo>
                    <a:pt x="0" y="2849014"/>
                  </a:lnTo>
                  <a:close/>
                </a:path>
              </a:pathLst>
            </a:custGeom>
            <a:solidFill>
              <a:srgbClr val="538BCA"/>
            </a:solidFill>
          </p:spPr>
          <p:txBody>
            <a:bodyPr/>
            <a:lstStyle/>
            <a:p>
              <a:endParaRPr lang="en-US"/>
            </a:p>
          </p:txBody>
        </p:sp>
        <p:sp>
          <p:nvSpPr>
            <p:cNvPr id="5" name="TextBox 5"/>
            <p:cNvSpPr txBox="1"/>
            <p:nvPr/>
          </p:nvSpPr>
          <p:spPr>
            <a:xfrm>
              <a:off x="0" y="-47625"/>
              <a:ext cx="812800" cy="860425"/>
            </a:xfrm>
            <a:prstGeom prst="rect">
              <a:avLst/>
            </a:prstGeom>
          </p:spPr>
          <p:txBody>
            <a:bodyPr lIns="50800" tIns="50800" rIns="50800" bIns="50800" rtlCol="0" anchor="ctr"/>
            <a:lstStyle/>
            <a:p>
              <a:pPr algn="ctr">
                <a:lnSpc>
                  <a:spcPts val="3358"/>
                </a:lnSpc>
              </a:pPr>
              <a:endParaRPr/>
            </a:p>
          </p:txBody>
        </p:sp>
      </p:grpSp>
      <p:sp>
        <p:nvSpPr>
          <p:cNvPr id="7" name="Freeform 7"/>
          <p:cNvSpPr/>
          <p:nvPr/>
        </p:nvSpPr>
        <p:spPr>
          <a:xfrm>
            <a:off x="1028700" y="7793306"/>
            <a:ext cx="5389960" cy="2239079"/>
          </a:xfrm>
          <a:custGeom>
            <a:avLst/>
            <a:gdLst/>
            <a:ahLst/>
            <a:cxnLst/>
            <a:rect l="l" t="t" r="r" b="b"/>
            <a:pathLst>
              <a:path w="5389960" h="2239079">
                <a:moveTo>
                  <a:pt x="0" y="0"/>
                </a:moveTo>
                <a:lnTo>
                  <a:pt x="5389960" y="0"/>
                </a:lnTo>
                <a:lnTo>
                  <a:pt x="5389960" y="2239079"/>
                </a:lnTo>
                <a:lnTo>
                  <a:pt x="0" y="2239079"/>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8" name="TextBox 8"/>
          <p:cNvSpPr txBox="1"/>
          <p:nvPr/>
        </p:nvSpPr>
        <p:spPr>
          <a:xfrm>
            <a:off x="1028700" y="403513"/>
            <a:ext cx="6596139" cy="2378325"/>
          </a:xfrm>
          <a:prstGeom prst="rect">
            <a:avLst/>
          </a:prstGeom>
        </p:spPr>
        <p:txBody>
          <a:bodyPr lIns="0" tIns="0" rIns="0" bIns="0" rtlCol="0" anchor="t">
            <a:spAutoFit/>
          </a:bodyPr>
          <a:lstStyle/>
          <a:p>
            <a:pPr algn="just">
              <a:lnSpc>
                <a:spcPts val="19452"/>
              </a:lnSpc>
            </a:pPr>
            <a:r>
              <a:rPr lang="en-US" sz="13894">
                <a:solidFill>
                  <a:srgbClr val="000000"/>
                </a:solidFill>
                <a:latin typeface="Lemon Tuesday"/>
              </a:rPr>
              <a:t>Flight</a:t>
            </a:r>
          </a:p>
        </p:txBody>
      </p:sp>
      <p:sp>
        <p:nvSpPr>
          <p:cNvPr id="9" name="TextBox 9"/>
          <p:cNvSpPr txBox="1"/>
          <p:nvPr/>
        </p:nvSpPr>
        <p:spPr>
          <a:xfrm>
            <a:off x="1028700" y="2765175"/>
            <a:ext cx="6483841" cy="2378325"/>
          </a:xfrm>
          <a:prstGeom prst="rect">
            <a:avLst/>
          </a:prstGeom>
        </p:spPr>
        <p:txBody>
          <a:bodyPr lIns="0" tIns="0" rIns="0" bIns="0" rtlCol="0" anchor="t">
            <a:spAutoFit/>
          </a:bodyPr>
          <a:lstStyle/>
          <a:p>
            <a:pPr algn="just">
              <a:lnSpc>
                <a:spcPts val="19452"/>
              </a:lnSpc>
            </a:pPr>
            <a:r>
              <a:rPr lang="en-US" sz="13894">
                <a:solidFill>
                  <a:srgbClr val="000000"/>
                </a:solidFill>
                <a:latin typeface="Lemon Tuesday"/>
              </a:rPr>
              <a:t>Delay</a:t>
            </a:r>
          </a:p>
        </p:txBody>
      </p:sp>
      <p:sp>
        <p:nvSpPr>
          <p:cNvPr id="10" name="TextBox 10"/>
          <p:cNvSpPr txBox="1"/>
          <p:nvPr/>
        </p:nvSpPr>
        <p:spPr>
          <a:xfrm>
            <a:off x="1028700" y="5124450"/>
            <a:ext cx="7003325" cy="2378325"/>
          </a:xfrm>
          <a:prstGeom prst="rect">
            <a:avLst/>
          </a:prstGeom>
        </p:spPr>
        <p:txBody>
          <a:bodyPr lIns="0" tIns="0" rIns="0" bIns="0" rtlCol="0" anchor="t">
            <a:spAutoFit/>
          </a:bodyPr>
          <a:lstStyle/>
          <a:p>
            <a:pPr algn="just">
              <a:lnSpc>
                <a:spcPts val="19452"/>
              </a:lnSpc>
            </a:pPr>
            <a:r>
              <a:rPr lang="en-US" sz="13894">
                <a:solidFill>
                  <a:srgbClr val="000000"/>
                </a:solidFill>
                <a:latin typeface="Lemon Tuesday"/>
              </a:rPr>
              <a:t>Analysis</a:t>
            </a:r>
          </a:p>
        </p:txBody>
      </p:sp>
      <p:pic>
        <p:nvPicPr>
          <p:cNvPr id="2054" name="Picture 6" descr="Delayed Flight Stock Illustrations – 733 Delayed Flight Stock  Illustrations, Vectors &amp; Clipart - Dreamstime">
            <a:extLst>
              <a:ext uri="{FF2B5EF4-FFF2-40B4-BE49-F238E27FC236}">
                <a16:creationId xmlns:a16="http://schemas.microsoft.com/office/drawing/2014/main" id="{75A3D06B-7B46-8792-BAA4-2C5EC141C9E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541241" y="1028700"/>
            <a:ext cx="9213359" cy="8087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789726" y="4303010"/>
            <a:ext cx="6182384" cy="1499673"/>
            <a:chOff x="0" y="0"/>
            <a:chExt cx="1628282" cy="381296"/>
          </a:xfrm>
        </p:grpSpPr>
        <p:sp>
          <p:nvSpPr>
            <p:cNvPr id="3" name="Freeform 3"/>
            <p:cNvSpPr/>
            <p:nvPr/>
          </p:nvSpPr>
          <p:spPr>
            <a:xfrm>
              <a:off x="0" y="0"/>
              <a:ext cx="1628282" cy="381296"/>
            </a:xfrm>
            <a:custGeom>
              <a:avLst/>
              <a:gdLst/>
              <a:ahLst/>
              <a:cxnLst/>
              <a:rect l="l" t="t" r="r" b="b"/>
              <a:pathLst>
                <a:path w="1628282" h="381296">
                  <a:moveTo>
                    <a:pt x="0" y="0"/>
                  </a:moveTo>
                  <a:lnTo>
                    <a:pt x="1628282" y="0"/>
                  </a:lnTo>
                  <a:lnTo>
                    <a:pt x="1628282" y="381296"/>
                  </a:lnTo>
                  <a:lnTo>
                    <a:pt x="0" y="381296"/>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42946" y="4486613"/>
            <a:ext cx="5665760" cy="1161325"/>
            <a:chOff x="0" y="0"/>
            <a:chExt cx="1492217" cy="305863"/>
          </a:xfrm>
        </p:grpSpPr>
        <p:sp>
          <p:nvSpPr>
            <p:cNvPr id="6" name="Freeform 6"/>
            <p:cNvSpPr/>
            <p:nvPr/>
          </p:nvSpPr>
          <p:spPr>
            <a:xfrm>
              <a:off x="0" y="0"/>
              <a:ext cx="1492217" cy="305863"/>
            </a:xfrm>
            <a:custGeom>
              <a:avLst/>
              <a:gdLst/>
              <a:ahLst/>
              <a:cxnLst/>
              <a:rect l="l" t="t" r="r" b="b"/>
              <a:pathLst>
                <a:path w="1492217" h="305863">
                  <a:moveTo>
                    <a:pt x="0" y="0"/>
                  </a:moveTo>
                  <a:lnTo>
                    <a:pt x="1492217" y="0"/>
                  </a:lnTo>
                  <a:lnTo>
                    <a:pt x="1492217" y="305863"/>
                  </a:lnTo>
                  <a:lnTo>
                    <a:pt x="0" y="305863"/>
                  </a:lnTo>
                  <a:close/>
                </a:path>
              </a:pathLst>
            </a:custGeom>
            <a:solidFill>
              <a:srgbClr val="FFFFFF"/>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772666" y="4341952"/>
            <a:ext cx="6182384" cy="1342631"/>
          </a:xfrm>
          <a:prstGeom prst="rect">
            <a:avLst/>
          </a:prstGeom>
        </p:spPr>
        <p:txBody>
          <a:bodyPr lIns="0" tIns="0" rIns="0" bIns="0" rtlCol="0" anchor="t">
            <a:spAutoFit/>
          </a:bodyPr>
          <a:lstStyle/>
          <a:p>
            <a:pPr algn="ctr">
              <a:lnSpc>
                <a:spcPts val="11021"/>
              </a:lnSpc>
            </a:pPr>
            <a:r>
              <a:rPr lang="en-US" sz="7872" dirty="0">
                <a:solidFill>
                  <a:srgbClr val="000000"/>
                </a:solidFill>
                <a:latin typeface="Open Sans Extra Bold"/>
              </a:rPr>
              <a:t>OBJECTIVE</a:t>
            </a:r>
          </a:p>
        </p:txBody>
      </p:sp>
      <p:sp>
        <p:nvSpPr>
          <p:cNvPr id="10" name="TextBox 10"/>
          <p:cNvSpPr txBox="1"/>
          <p:nvPr/>
        </p:nvSpPr>
        <p:spPr>
          <a:xfrm>
            <a:off x="7178700" y="1366484"/>
            <a:ext cx="10710719" cy="7372724"/>
          </a:xfrm>
          <a:prstGeom prst="rect">
            <a:avLst/>
          </a:prstGeom>
        </p:spPr>
        <p:txBody>
          <a:bodyPr wrap="square" lIns="0" tIns="0" rIns="0" bIns="0" rtlCol="0" anchor="t">
            <a:spAutoFit/>
          </a:bodyPr>
          <a:lstStyle/>
          <a:p>
            <a:pPr algn="ctr">
              <a:lnSpc>
                <a:spcPts val="5320"/>
              </a:lnSpc>
            </a:pPr>
            <a:r>
              <a:rPr lang="en-US" sz="3600" dirty="0">
                <a:solidFill>
                  <a:schemeClr val="bg1"/>
                </a:solidFill>
              </a:rPr>
              <a:t>Flight delays are a persistent, multi-billion dollar operational challenge impacting the US air travel system. Our core </a:t>
            </a:r>
            <a:r>
              <a:rPr lang="en-US" sz="3600" b="1" dirty="0">
                <a:solidFill>
                  <a:schemeClr val="bg1"/>
                </a:solidFill>
              </a:rPr>
              <a:t>objective</a:t>
            </a:r>
            <a:r>
              <a:rPr lang="en-US" sz="3600" dirty="0">
                <a:solidFill>
                  <a:schemeClr val="bg1"/>
                </a:solidFill>
              </a:rPr>
              <a:t> is to develop a supervised </a:t>
            </a:r>
            <a:r>
              <a:rPr lang="en-US" sz="3600" b="1" dirty="0">
                <a:solidFill>
                  <a:schemeClr val="bg1"/>
                </a:solidFill>
              </a:rPr>
              <a:t>regression model</a:t>
            </a:r>
            <a:r>
              <a:rPr lang="en-US" sz="3600" dirty="0">
                <a:solidFill>
                  <a:schemeClr val="bg1"/>
                </a:solidFill>
              </a:rPr>
              <a:t> to accurately predict the </a:t>
            </a:r>
            <a:r>
              <a:rPr lang="en-US" sz="3600" b="1" dirty="0">
                <a:solidFill>
                  <a:schemeClr val="bg1"/>
                </a:solidFill>
              </a:rPr>
              <a:t>average arrival delay (in minutes)</a:t>
            </a:r>
            <a:r>
              <a:rPr lang="en-US" sz="3600" dirty="0">
                <a:solidFill>
                  <a:schemeClr val="bg1"/>
                </a:solidFill>
              </a:rPr>
              <a:t> for aggregated flight groups. This model provides quantified, proactive lead time, enabling airlines and airport operations to dynamically optimize resource allocation, mitigate delay propagation, and significantly enhance overall system efficiency and passenger experience.</a:t>
            </a:r>
          </a:p>
          <a:p>
            <a:pPr algn="ctr">
              <a:lnSpc>
                <a:spcPts val="5320"/>
              </a:lnSpc>
            </a:pPr>
            <a:endParaRPr lang="en-US" sz="2000" dirty="0">
              <a:solidFill>
                <a:srgbClr val="FFFFFF"/>
              </a:solidFill>
              <a:latin typeface="Open Sans"/>
            </a:endParaRPr>
          </a:p>
        </p:txBody>
      </p:sp>
      <p:sp>
        <p:nvSpPr>
          <p:cNvPr id="11" name="Freeform 11"/>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flipV="1">
            <a:off x="1614474" y="5692790"/>
            <a:ext cx="3656164" cy="3190003"/>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1597414" y="1192711"/>
            <a:ext cx="3656164" cy="3190003"/>
          </a:xfrm>
          <a:custGeom>
            <a:avLst/>
            <a:gdLst/>
            <a:ahLst/>
            <a:cxnLst/>
            <a:rect l="l" t="t" r="r" b="b"/>
            <a:pathLst>
              <a:path w="3656164" h="3190003">
                <a:moveTo>
                  <a:pt x="0" y="0"/>
                </a:moveTo>
                <a:lnTo>
                  <a:pt x="3656164" y="0"/>
                </a:lnTo>
                <a:lnTo>
                  <a:pt x="3656164" y="3190003"/>
                </a:lnTo>
                <a:lnTo>
                  <a:pt x="0" y="31900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4300817" y="1278774"/>
            <a:ext cx="10119929" cy="1914115"/>
            <a:chOff x="0" y="0"/>
            <a:chExt cx="1956916" cy="370137"/>
          </a:xfrm>
        </p:grpSpPr>
        <p:sp>
          <p:nvSpPr>
            <p:cNvPr id="3" name="Freeform 3"/>
            <p:cNvSpPr/>
            <p:nvPr/>
          </p:nvSpPr>
          <p:spPr>
            <a:xfrm>
              <a:off x="0" y="0"/>
              <a:ext cx="1956916" cy="370137"/>
            </a:xfrm>
            <a:custGeom>
              <a:avLst/>
              <a:gdLst/>
              <a:ahLst/>
              <a:cxnLst/>
              <a:rect l="l" t="t" r="r" b="b"/>
              <a:pathLst>
                <a:path w="1956916" h="370137">
                  <a:moveTo>
                    <a:pt x="0" y="0"/>
                  </a:moveTo>
                  <a:lnTo>
                    <a:pt x="1956916" y="0"/>
                  </a:lnTo>
                  <a:lnTo>
                    <a:pt x="1956916" y="370137"/>
                  </a:lnTo>
                  <a:lnTo>
                    <a:pt x="0" y="370137"/>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4557338" y="1426121"/>
            <a:ext cx="9614590" cy="1581732"/>
            <a:chOff x="0" y="0"/>
            <a:chExt cx="1859197" cy="305863"/>
          </a:xfrm>
        </p:grpSpPr>
        <p:sp>
          <p:nvSpPr>
            <p:cNvPr id="6" name="Freeform 6"/>
            <p:cNvSpPr/>
            <p:nvPr/>
          </p:nvSpPr>
          <p:spPr>
            <a:xfrm>
              <a:off x="0" y="0"/>
              <a:ext cx="1859197" cy="305863"/>
            </a:xfrm>
            <a:custGeom>
              <a:avLst/>
              <a:gdLst/>
              <a:ahLst/>
              <a:cxnLst/>
              <a:rect l="l" t="t" r="r" b="b"/>
              <a:pathLst>
                <a:path w="1859197" h="305863">
                  <a:moveTo>
                    <a:pt x="0" y="0"/>
                  </a:moveTo>
                  <a:lnTo>
                    <a:pt x="1859197" y="0"/>
                  </a:lnTo>
                  <a:lnTo>
                    <a:pt x="1859197" y="305863"/>
                  </a:lnTo>
                  <a:lnTo>
                    <a:pt x="0" y="305863"/>
                  </a:lnTo>
                  <a:close/>
                </a:path>
              </a:pathLst>
            </a:custGeom>
            <a:solidFill>
              <a:srgbClr val="FFFFFF"/>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a:grpSpLocks noChangeAspect="1"/>
          </p:cNvGrpSpPr>
          <p:nvPr/>
        </p:nvGrpSpPr>
        <p:grpSpPr>
          <a:xfrm>
            <a:off x="3342436" y="4021387"/>
            <a:ext cx="1589062" cy="1589062"/>
            <a:chOff x="0" y="0"/>
            <a:chExt cx="14400530" cy="14400530"/>
          </a:xfrm>
        </p:grpSpPr>
        <p:sp>
          <p:nvSpPr>
            <p:cNvPr id="9" name="Freeform 9"/>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000000"/>
            </a:solidFill>
          </p:spPr>
          <p:txBody>
            <a:bodyPr/>
            <a:lstStyle/>
            <a:p>
              <a:endParaRPr lang="en-US"/>
            </a:p>
          </p:txBody>
        </p:sp>
      </p:grpSp>
      <p:grpSp>
        <p:nvGrpSpPr>
          <p:cNvPr id="10" name="Group 10"/>
          <p:cNvGrpSpPr>
            <a:grpSpLocks noChangeAspect="1"/>
          </p:cNvGrpSpPr>
          <p:nvPr/>
        </p:nvGrpSpPr>
        <p:grpSpPr>
          <a:xfrm>
            <a:off x="6469903" y="4021387"/>
            <a:ext cx="1589062" cy="1589062"/>
            <a:chOff x="0" y="0"/>
            <a:chExt cx="14400530" cy="14400530"/>
          </a:xfrm>
        </p:grpSpPr>
        <p:sp>
          <p:nvSpPr>
            <p:cNvPr id="11" name="Freeform 11"/>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000000"/>
            </a:solidFill>
          </p:spPr>
          <p:txBody>
            <a:bodyPr/>
            <a:lstStyle/>
            <a:p>
              <a:endParaRPr lang="en-US"/>
            </a:p>
          </p:txBody>
        </p:sp>
      </p:grpSp>
      <p:grpSp>
        <p:nvGrpSpPr>
          <p:cNvPr id="12" name="Group 12"/>
          <p:cNvGrpSpPr>
            <a:grpSpLocks noChangeAspect="1"/>
          </p:cNvGrpSpPr>
          <p:nvPr/>
        </p:nvGrpSpPr>
        <p:grpSpPr>
          <a:xfrm>
            <a:off x="9597369" y="4021387"/>
            <a:ext cx="1589062" cy="1589062"/>
            <a:chOff x="0" y="0"/>
            <a:chExt cx="14400530" cy="14400530"/>
          </a:xfrm>
        </p:grpSpPr>
        <p:sp>
          <p:nvSpPr>
            <p:cNvPr id="13" name="Freeform 13"/>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000000"/>
            </a:solidFill>
          </p:spPr>
          <p:txBody>
            <a:bodyPr/>
            <a:lstStyle/>
            <a:p>
              <a:endParaRPr lang="en-US"/>
            </a:p>
          </p:txBody>
        </p:sp>
      </p:grpSp>
      <p:grpSp>
        <p:nvGrpSpPr>
          <p:cNvPr id="14" name="Group 14"/>
          <p:cNvGrpSpPr>
            <a:grpSpLocks noChangeAspect="1"/>
          </p:cNvGrpSpPr>
          <p:nvPr/>
        </p:nvGrpSpPr>
        <p:grpSpPr>
          <a:xfrm>
            <a:off x="12724835" y="4021387"/>
            <a:ext cx="1589062" cy="1589062"/>
            <a:chOff x="0" y="0"/>
            <a:chExt cx="14400530" cy="14400530"/>
          </a:xfrm>
        </p:grpSpPr>
        <p:sp>
          <p:nvSpPr>
            <p:cNvPr id="15" name="Freeform 15"/>
            <p:cNvSpPr/>
            <p:nvPr/>
          </p:nvSpPr>
          <p:spPr>
            <a:xfrm>
              <a:off x="0" y="0"/>
              <a:ext cx="14400530" cy="14399261"/>
            </a:xfrm>
            <a:custGeom>
              <a:avLst/>
              <a:gdLst/>
              <a:ahLst/>
              <a:cxnLst/>
              <a:rect l="l" t="t" r="r" b="b"/>
              <a:pathLst>
                <a:path w="14400530" h="14399261">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000000"/>
            </a:solidFill>
          </p:spPr>
          <p:txBody>
            <a:bodyPr/>
            <a:lstStyle/>
            <a:p>
              <a:endParaRPr lang="en-US"/>
            </a:p>
          </p:txBody>
        </p:sp>
      </p:grpSp>
      <p:sp>
        <p:nvSpPr>
          <p:cNvPr id="16" name="Freeform 16"/>
          <p:cNvSpPr/>
          <p:nvPr/>
        </p:nvSpPr>
        <p:spPr>
          <a:xfrm rot="-244207">
            <a:off x="4225508" y="5657897"/>
            <a:ext cx="3186469" cy="900178"/>
          </a:xfrm>
          <a:custGeom>
            <a:avLst/>
            <a:gdLst/>
            <a:ahLst/>
            <a:cxnLst/>
            <a:rect l="l" t="t" r="r" b="b"/>
            <a:pathLst>
              <a:path w="3186469" h="900178">
                <a:moveTo>
                  <a:pt x="0" y="0"/>
                </a:moveTo>
                <a:lnTo>
                  <a:pt x="3186469" y="0"/>
                </a:lnTo>
                <a:lnTo>
                  <a:pt x="3186469" y="900177"/>
                </a:lnTo>
                <a:lnTo>
                  <a:pt x="0" y="900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7" name="Freeform 17"/>
          <p:cNvSpPr/>
          <p:nvPr/>
        </p:nvSpPr>
        <p:spPr>
          <a:xfrm rot="-211383">
            <a:off x="7411977" y="5657897"/>
            <a:ext cx="3186469" cy="900178"/>
          </a:xfrm>
          <a:custGeom>
            <a:avLst/>
            <a:gdLst/>
            <a:ahLst/>
            <a:cxnLst/>
            <a:rect l="l" t="t" r="r" b="b"/>
            <a:pathLst>
              <a:path w="3186469" h="900178">
                <a:moveTo>
                  <a:pt x="0" y="0"/>
                </a:moveTo>
                <a:lnTo>
                  <a:pt x="3186469" y="0"/>
                </a:lnTo>
                <a:lnTo>
                  <a:pt x="3186469" y="900177"/>
                </a:lnTo>
                <a:lnTo>
                  <a:pt x="0" y="900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8" name="Freeform 18"/>
          <p:cNvSpPr/>
          <p:nvPr/>
        </p:nvSpPr>
        <p:spPr>
          <a:xfrm rot="-204792">
            <a:off x="10787374" y="5657897"/>
            <a:ext cx="3186469" cy="900178"/>
          </a:xfrm>
          <a:custGeom>
            <a:avLst/>
            <a:gdLst/>
            <a:ahLst/>
            <a:cxnLst/>
            <a:rect l="l" t="t" r="r" b="b"/>
            <a:pathLst>
              <a:path w="3186469" h="900178">
                <a:moveTo>
                  <a:pt x="0" y="0"/>
                </a:moveTo>
                <a:lnTo>
                  <a:pt x="3186469" y="0"/>
                </a:lnTo>
                <a:lnTo>
                  <a:pt x="3186469" y="900177"/>
                </a:lnTo>
                <a:lnTo>
                  <a:pt x="0" y="9001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9" name="TextBox 19"/>
          <p:cNvSpPr txBox="1"/>
          <p:nvPr/>
        </p:nvSpPr>
        <p:spPr>
          <a:xfrm>
            <a:off x="2825219" y="6826030"/>
            <a:ext cx="2623496" cy="1090940"/>
          </a:xfrm>
          <a:prstGeom prst="rect">
            <a:avLst/>
          </a:prstGeom>
        </p:spPr>
        <p:txBody>
          <a:bodyPr lIns="0" tIns="0" rIns="0" bIns="0" rtlCol="0" anchor="t">
            <a:spAutoFit/>
          </a:bodyPr>
          <a:lstStyle/>
          <a:p>
            <a:pPr algn="ctr">
              <a:lnSpc>
                <a:spcPts val="4377"/>
              </a:lnSpc>
            </a:pPr>
            <a:r>
              <a:rPr lang="en-US" sz="3126" dirty="0">
                <a:solidFill>
                  <a:srgbClr val="FFFFFF"/>
                </a:solidFill>
                <a:latin typeface="Open Sans Bold"/>
              </a:rPr>
              <a:t>DATA SOURCING</a:t>
            </a:r>
          </a:p>
        </p:txBody>
      </p:sp>
      <p:sp>
        <p:nvSpPr>
          <p:cNvPr id="20" name="Freeform 20"/>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1" name="Freeform 21"/>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2" name="Freeform 22"/>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3" name="Freeform 23"/>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4" name="Freeform 24"/>
          <p:cNvSpPr/>
          <p:nvPr/>
        </p:nvSpPr>
        <p:spPr>
          <a:xfrm rot="-6283330" flipV="1">
            <a:off x="781869" y="7927522"/>
            <a:ext cx="2465127" cy="2150824"/>
          </a:xfrm>
          <a:custGeom>
            <a:avLst/>
            <a:gdLst/>
            <a:ahLst/>
            <a:cxnLst/>
            <a:rect l="l" t="t" r="r" b="b"/>
            <a:pathLst>
              <a:path w="2465127" h="2150824">
                <a:moveTo>
                  <a:pt x="0" y="2150824"/>
                </a:moveTo>
                <a:lnTo>
                  <a:pt x="2465128" y="2150824"/>
                </a:lnTo>
                <a:lnTo>
                  <a:pt x="2465128" y="0"/>
                </a:lnTo>
                <a:lnTo>
                  <a:pt x="0" y="0"/>
                </a:lnTo>
                <a:lnTo>
                  <a:pt x="0" y="2150824"/>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5" name="Freeform 25"/>
          <p:cNvSpPr/>
          <p:nvPr/>
        </p:nvSpPr>
        <p:spPr>
          <a:xfrm rot="-4678657">
            <a:off x="75995" y="7963387"/>
            <a:ext cx="2465127" cy="2150824"/>
          </a:xfrm>
          <a:custGeom>
            <a:avLst/>
            <a:gdLst/>
            <a:ahLst/>
            <a:cxnLst/>
            <a:rect l="l" t="t" r="r" b="b"/>
            <a:pathLst>
              <a:path w="2465127" h="2150824">
                <a:moveTo>
                  <a:pt x="0" y="0"/>
                </a:moveTo>
                <a:lnTo>
                  <a:pt x="2465128" y="0"/>
                </a:lnTo>
                <a:lnTo>
                  <a:pt x="2465128" y="2150823"/>
                </a:lnTo>
                <a:lnTo>
                  <a:pt x="0" y="215082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6" name="Freeform 26"/>
          <p:cNvSpPr/>
          <p:nvPr/>
        </p:nvSpPr>
        <p:spPr>
          <a:xfrm rot="-5706905" flipH="1" flipV="1">
            <a:off x="15287320" y="-67731"/>
            <a:ext cx="2465127" cy="2150824"/>
          </a:xfrm>
          <a:custGeom>
            <a:avLst/>
            <a:gdLst/>
            <a:ahLst/>
            <a:cxnLst/>
            <a:rect l="l" t="t" r="r" b="b"/>
            <a:pathLst>
              <a:path w="2465127" h="2150824">
                <a:moveTo>
                  <a:pt x="2465127" y="2150823"/>
                </a:moveTo>
                <a:lnTo>
                  <a:pt x="0" y="2150823"/>
                </a:lnTo>
                <a:lnTo>
                  <a:pt x="0" y="0"/>
                </a:lnTo>
                <a:lnTo>
                  <a:pt x="2465127" y="0"/>
                </a:lnTo>
                <a:lnTo>
                  <a:pt x="2465127" y="2150823"/>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7" name="Freeform 27"/>
          <p:cNvSpPr/>
          <p:nvPr/>
        </p:nvSpPr>
        <p:spPr>
          <a:xfrm rot="-5070911" flipH="1">
            <a:off x="14581446" y="-31867"/>
            <a:ext cx="2465127" cy="2150824"/>
          </a:xfrm>
          <a:custGeom>
            <a:avLst/>
            <a:gdLst/>
            <a:ahLst/>
            <a:cxnLst/>
            <a:rect l="l" t="t" r="r" b="b"/>
            <a:pathLst>
              <a:path w="2465127" h="2150824">
                <a:moveTo>
                  <a:pt x="2465127" y="0"/>
                </a:moveTo>
                <a:lnTo>
                  <a:pt x="0" y="0"/>
                </a:lnTo>
                <a:lnTo>
                  <a:pt x="0" y="2150824"/>
                </a:lnTo>
                <a:lnTo>
                  <a:pt x="2465127" y="2150824"/>
                </a:lnTo>
                <a:lnTo>
                  <a:pt x="2465127"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28" name="Freeform 28"/>
          <p:cNvSpPr/>
          <p:nvPr/>
        </p:nvSpPr>
        <p:spPr>
          <a:xfrm>
            <a:off x="3616953" y="4407233"/>
            <a:ext cx="1161254" cy="978356"/>
          </a:xfrm>
          <a:custGeom>
            <a:avLst/>
            <a:gdLst/>
            <a:ahLst/>
            <a:cxnLst/>
            <a:rect l="l" t="t" r="r" b="b"/>
            <a:pathLst>
              <a:path w="1161254" h="978356">
                <a:moveTo>
                  <a:pt x="0" y="0"/>
                </a:moveTo>
                <a:lnTo>
                  <a:pt x="1161254" y="0"/>
                </a:lnTo>
                <a:lnTo>
                  <a:pt x="1161254" y="978357"/>
                </a:lnTo>
                <a:lnTo>
                  <a:pt x="0" y="97835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29" name="Freeform 29"/>
          <p:cNvSpPr/>
          <p:nvPr/>
        </p:nvSpPr>
        <p:spPr>
          <a:xfrm>
            <a:off x="6780810" y="4295437"/>
            <a:ext cx="967248" cy="967248"/>
          </a:xfrm>
          <a:custGeom>
            <a:avLst/>
            <a:gdLst/>
            <a:ahLst/>
            <a:cxnLst/>
            <a:rect l="l" t="t" r="r" b="b"/>
            <a:pathLst>
              <a:path w="967248" h="967248">
                <a:moveTo>
                  <a:pt x="0" y="0"/>
                </a:moveTo>
                <a:lnTo>
                  <a:pt x="967247" y="0"/>
                </a:lnTo>
                <a:lnTo>
                  <a:pt x="967247" y="967248"/>
                </a:lnTo>
                <a:lnTo>
                  <a:pt x="0" y="96724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30" name="Freeform 30"/>
          <p:cNvSpPr/>
          <p:nvPr/>
        </p:nvSpPr>
        <p:spPr>
          <a:xfrm>
            <a:off x="9846824" y="4295437"/>
            <a:ext cx="1090152" cy="1090152"/>
          </a:xfrm>
          <a:custGeom>
            <a:avLst/>
            <a:gdLst/>
            <a:ahLst/>
            <a:cxnLst/>
            <a:rect l="l" t="t" r="r" b="b"/>
            <a:pathLst>
              <a:path w="1090152" h="1090152">
                <a:moveTo>
                  <a:pt x="0" y="0"/>
                </a:moveTo>
                <a:lnTo>
                  <a:pt x="1090152" y="0"/>
                </a:lnTo>
                <a:lnTo>
                  <a:pt x="1090152" y="1090153"/>
                </a:lnTo>
                <a:lnTo>
                  <a:pt x="0" y="1090153"/>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US"/>
          </a:p>
        </p:txBody>
      </p:sp>
      <p:sp>
        <p:nvSpPr>
          <p:cNvPr id="31" name="Freeform 31"/>
          <p:cNvSpPr/>
          <p:nvPr/>
        </p:nvSpPr>
        <p:spPr>
          <a:xfrm>
            <a:off x="12939031" y="4295437"/>
            <a:ext cx="1090152" cy="1090152"/>
          </a:xfrm>
          <a:custGeom>
            <a:avLst/>
            <a:gdLst/>
            <a:ahLst/>
            <a:cxnLst/>
            <a:rect l="l" t="t" r="r" b="b"/>
            <a:pathLst>
              <a:path w="1090152" h="1090152">
                <a:moveTo>
                  <a:pt x="0" y="0"/>
                </a:moveTo>
                <a:lnTo>
                  <a:pt x="1090152" y="0"/>
                </a:lnTo>
                <a:lnTo>
                  <a:pt x="1090152" y="1090153"/>
                </a:lnTo>
                <a:lnTo>
                  <a:pt x="0" y="1090153"/>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endParaRPr lang="en-US"/>
          </a:p>
        </p:txBody>
      </p:sp>
      <p:sp>
        <p:nvSpPr>
          <p:cNvPr id="32" name="TextBox 32"/>
          <p:cNvSpPr txBox="1"/>
          <p:nvPr/>
        </p:nvSpPr>
        <p:spPr>
          <a:xfrm>
            <a:off x="5677871" y="6826030"/>
            <a:ext cx="3494259" cy="1082630"/>
          </a:xfrm>
          <a:prstGeom prst="rect">
            <a:avLst/>
          </a:prstGeom>
        </p:spPr>
        <p:txBody>
          <a:bodyPr lIns="0" tIns="0" rIns="0" bIns="0" rtlCol="0" anchor="t">
            <a:spAutoFit/>
          </a:bodyPr>
          <a:lstStyle/>
          <a:p>
            <a:pPr algn="ctr">
              <a:lnSpc>
                <a:spcPts val="4377"/>
              </a:lnSpc>
            </a:pPr>
            <a:r>
              <a:rPr lang="en-US" sz="3126" dirty="0">
                <a:solidFill>
                  <a:srgbClr val="FFFFFF"/>
                </a:solidFill>
                <a:latin typeface="Open Sans Bold"/>
              </a:rPr>
              <a:t>DATA PREPROCESSING</a:t>
            </a:r>
          </a:p>
        </p:txBody>
      </p:sp>
      <p:sp>
        <p:nvSpPr>
          <p:cNvPr id="33" name="TextBox 33"/>
          <p:cNvSpPr txBox="1"/>
          <p:nvPr/>
        </p:nvSpPr>
        <p:spPr>
          <a:xfrm>
            <a:off x="9296521" y="6826030"/>
            <a:ext cx="3276479" cy="1090940"/>
          </a:xfrm>
          <a:prstGeom prst="rect">
            <a:avLst/>
          </a:prstGeom>
        </p:spPr>
        <p:txBody>
          <a:bodyPr wrap="square" lIns="0" tIns="0" rIns="0" bIns="0" rtlCol="0" anchor="t">
            <a:spAutoFit/>
          </a:bodyPr>
          <a:lstStyle/>
          <a:p>
            <a:pPr algn="ctr">
              <a:lnSpc>
                <a:spcPts val="4377"/>
              </a:lnSpc>
            </a:pPr>
            <a:r>
              <a:rPr lang="en-US" sz="3126" dirty="0">
                <a:solidFill>
                  <a:srgbClr val="FFFFFF"/>
                </a:solidFill>
                <a:latin typeface="Open Sans Bold"/>
              </a:rPr>
              <a:t>DATA VISUALIZATIONS</a:t>
            </a:r>
          </a:p>
        </p:txBody>
      </p:sp>
      <p:sp>
        <p:nvSpPr>
          <p:cNvPr id="34" name="TextBox 34"/>
          <p:cNvSpPr txBox="1"/>
          <p:nvPr/>
        </p:nvSpPr>
        <p:spPr>
          <a:xfrm>
            <a:off x="12380609" y="6826030"/>
            <a:ext cx="3494259" cy="1090940"/>
          </a:xfrm>
          <a:prstGeom prst="rect">
            <a:avLst/>
          </a:prstGeom>
        </p:spPr>
        <p:txBody>
          <a:bodyPr lIns="0" tIns="0" rIns="0" bIns="0" rtlCol="0" anchor="t">
            <a:spAutoFit/>
          </a:bodyPr>
          <a:lstStyle/>
          <a:p>
            <a:pPr algn="ctr">
              <a:lnSpc>
                <a:spcPts val="4377"/>
              </a:lnSpc>
            </a:pPr>
            <a:r>
              <a:rPr lang="en-US" sz="3126" dirty="0">
                <a:solidFill>
                  <a:srgbClr val="FFFFFF"/>
                </a:solidFill>
                <a:latin typeface="Open Sans Bold"/>
              </a:rPr>
              <a:t>ML </a:t>
            </a:r>
          </a:p>
          <a:p>
            <a:pPr algn="ctr">
              <a:lnSpc>
                <a:spcPts val="4377"/>
              </a:lnSpc>
            </a:pPr>
            <a:r>
              <a:rPr lang="en-US" sz="3126" dirty="0">
                <a:solidFill>
                  <a:srgbClr val="FFFFFF"/>
                </a:solidFill>
                <a:latin typeface="Open Sans Bold"/>
              </a:rPr>
              <a:t>MODELS</a:t>
            </a:r>
          </a:p>
        </p:txBody>
      </p:sp>
      <p:sp>
        <p:nvSpPr>
          <p:cNvPr id="35" name="TextBox 35"/>
          <p:cNvSpPr txBox="1"/>
          <p:nvPr/>
        </p:nvSpPr>
        <p:spPr>
          <a:xfrm>
            <a:off x="4458584" y="1474234"/>
            <a:ext cx="9804394" cy="1342631"/>
          </a:xfrm>
          <a:prstGeom prst="rect">
            <a:avLst/>
          </a:prstGeom>
        </p:spPr>
        <p:txBody>
          <a:bodyPr lIns="0" tIns="0" rIns="0" bIns="0" rtlCol="0" anchor="t">
            <a:spAutoFit/>
          </a:bodyPr>
          <a:lstStyle/>
          <a:p>
            <a:pPr algn="ctr">
              <a:lnSpc>
                <a:spcPts val="11021"/>
              </a:lnSpc>
            </a:pPr>
            <a:r>
              <a:rPr lang="en-US" sz="7872" dirty="0">
                <a:solidFill>
                  <a:srgbClr val="000000"/>
                </a:solidFill>
                <a:latin typeface="Open Sans Extra Bold"/>
              </a:rPr>
              <a:t>WORKFLOW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1013296" y="421699"/>
            <a:ext cx="7597650" cy="2650685"/>
            <a:chOff x="0" y="0"/>
            <a:chExt cx="1628282" cy="568079"/>
          </a:xfrm>
        </p:grpSpPr>
        <p:sp>
          <p:nvSpPr>
            <p:cNvPr id="3" name="Freeform 3"/>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09133" y="614963"/>
            <a:ext cx="6962761" cy="4206874"/>
            <a:chOff x="-4631" y="-88792"/>
            <a:chExt cx="1492217" cy="901592"/>
          </a:xfrm>
        </p:grpSpPr>
        <p:sp>
          <p:nvSpPr>
            <p:cNvPr id="6" name="Freeform 6"/>
            <p:cNvSpPr/>
            <p:nvPr/>
          </p:nvSpPr>
          <p:spPr>
            <a:xfrm>
              <a:off x="-4631" y="-88792"/>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4993058" y="856531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504490">
            <a:off x="16898059" y="8544278"/>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996239" y="846336"/>
            <a:ext cx="6962761" cy="1874300"/>
          </a:xfrm>
          <a:prstGeom prst="rect">
            <a:avLst/>
          </a:prstGeom>
        </p:spPr>
        <p:txBody>
          <a:bodyPr lIns="0" tIns="0" rIns="0" bIns="0" rtlCol="0" anchor="t">
            <a:spAutoFit/>
          </a:bodyPr>
          <a:lstStyle/>
          <a:p>
            <a:pPr algn="ctr">
              <a:lnSpc>
                <a:spcPts val="7493"/>
              </a:lnSpc>
            </a:pPr>
            <a:r>
              <a:rPr lang="en-US" sz="6043" dirty="0">
                <a:solidFill>
                  <a:srgbClr val="000000"/>
                </a:solidFill>
                <a:latin typeface="Open Sans Extra Bold"/>
              </a:rPr>
              <a:t>DATA </a:t>
            </a:r>
          </a:p>
          <a:p>
            <a:pPr algn="ctr">
              <a:lnSpc>
                <a:spcPts val="7493"/>
              </a:lnSpc>
            </a:pPr>
            <a:r>
              <a:rPr lang="en-US" sz="6043" dirty="0">
                <a:solidFill>
                  <a:srgbClr val="000000"/>
                </a:solidFill>
                <a:latin typeface="Open Sans Extra Bold"/>
              </a:rPr>
              <a:t>SOURCING</a:t>
            </a:r>
          </a:p>
        </p:txBody>
      </p:sp>
      <p:sp>
        <p:nvSpPr>
          <p:cNvPr id="12" name="TextBox 11">
            <a:extLst>
              <a:ext uri="{FF2B5EF4-FFF2-40B4-BE49-F238E27FC236}">
                <a16:creationId xmlns:a16="http://schemas.microsoft.com/office/drawing/2014/main" id="{DDF5E5D0-F02C-7D07-C437-A209D3AF4FAD}"/>
              </a:ext>
            </a:extLst>
          </p:cNvPr>
          <p:cNvSpPr txBox="1"/>
          <p:nvPr/>
        </p:nvSpPr>
        <p:spPr>
          <a:xfrm>
            <a:off x="1363723" y="3703606"/>
            <a:ext cx="15247877" cy="5324535"/>
          </a:xfrm>
          <a:prstGeom prst="rect">
            <a:avLst/>
          </a:prstGeom>
          <a:noFill/>
        </p:spPr>
        <p:txBody>
          <a:bodyPr wrap="square" rtlCol="0">
            <a:spAutoFit/>
          </a:bodyPr>
          <a:lstStyle/>
          <a:p>
            <a:pPr marL="457200" indent="-457200">
              <a:buFont typeface="Arial" panose="020B0604020202020204" pitchFamily="34" charset="0"/>
              <a:buChar char="•"/>
            </a:pPr>
            <a:r>
              <a:rPr lang="en-US" sz="3400" b="1" dirty="0">
                <a:solidFill>
                  <a:schemeClr val="bg1"/>
                </a:solidFill>
              </a:rPr>
              <a:t>Source:</a:t>
            </a:r>
            <a:r>
              <a:rPr lang="en-US" sz="3400" dirty="0">
                <a:solidFill>
                  <a:schemeClr val="bg1"/>
                </a:solidFill>
              </a:rPr>
              <a:t> US Bureau of Transportation Statistics (BTS) On-Time Performance Data</a:t>
            </a:r>
          </a:p>
          <a:p>
            <a:pPr marL="457200" indent="-457200">
              <a:buFont typeface="Arial" panose="020B0604020202020204" pitchFamily="34" charset="0"/>
              <a:buChar char="•"/>
            </a:pPr>
            <a:r>
              <a:rPr lang="en-US" sz="3400" b="1" dirty="0">
                <a:solidFill>
                  <a:schemeClr val="bg1"/>
                </a:solidFill>
              </a:rPr>
              <a:t>Timeframe:</a:t>
            </a:r>
            <a:r>
              <a:rPr lang="en-US" sz="3400" dirty="0">
                <a:solidFill>
                  <a:schemeClr val="bg1"/>
                </a:solidFill>
              </a:rPr>
              <a:t> June 2003 - July 2025</a:t>
            </a:r>
          </a:p>
          <a:p>
            <a:pPr marL="457200" indent="-457200">
              <a:buFont typeface="Arial" panose="020B0604020202020204" pitchFamily="34" charset="0"/>
              <a:buChar char="•"/>
            </a:pPr>
            <a:r>
              <a:rPr lang="en-US" sz="3400" b="1" dirty="0">
                <a:solidFill>
                  <a:schemeClr val="bg1"/>
                </a:solidFill>
              </a:rPr>
              <a:t>Scale:</a:t>
            </a:r>
            <a:r>
              <a:rPr lang="en-US" sz="3400" dirty="0">
                <a:solidFill>
                  <a:schemeClr val="bg1"/>
                </a:solidFill>
              </a:rPr>
              <a:t> Over 400,000 monthly aggregated records (Carrier x Airport x Month). (409612 * 21)</a:t>
            </a:r>
          </a:p>
          <a:p>
            <a:r>
              <a:rPr lang="en-US" sz="3400" b="1" dirty="0">
                <a:solidFill>
                  <a:schemeClr val="bg1"/>
                </a:solidFill>
              </a:rPr>
              <a:t>Key Variables:</a:t>
            </a:r>
            <a:endParaRPr lang="en-US" sz="3400" dirty="0">
              <a:solidFill>
                <a:schemeClr val="bg1"/>
              </a:solidFill>
            </a:endParaRPr>
          </a:p>
          <a:p>
            <a:pPr marL="457200" indent="-457200">
              <a:buFont typeface="Arial" panose="020B0604020202020204" pitchFamily="34" charset="0"/>
              <a:buChar char="•"/>
            </a:pPr>
            <a:r>
              <a:rPr lang="en-US" sz="3400" b="1" dirty="0">
                <a:solidFill>
                  <a:schemeClr val="bg1"/>
                </a:solidFill>
              </a:rPr>
              <a:t>Target Variable:</a:t>
            </a:r>
            <a:r>
              <a:rPr lang="en-US" sz="3400" dirty="0">
                <a:solidFill>
                  <a:schemeClr val="bg1"/>
                </a:solidFill>
              </a:rPr>
              <a:t> </a:t>
            </a:r>
            <a:r>
              <a:rPr lang="en-US" sz="3400" dirty="0" err="1">
                <a:solidFill>
                  <a:schemeClr val="bg1"/>
                </a:solidFill>
              </a:rPr>
              <a:t>arr_delay</a:t>
            </a:r>
            <a:r>
              <a:rPr lang="en-US" sz="3400" dirty="0">
                <a:solidFill>
                  <a:schemeClr val="bg1"/>
                </a:solidFill>
              </a:rPr>
              <a:t> (Total Arrival Delay Minutes, later transformed to Average Arrival Delay).</a:t>
            </a:r>
          </a:p>
          <a:p>
            <a:pPr marL="457200" indent="-457200">
              <a:buFont typeface="Arial" panose="020B0604020202020204" pitchFamily="34" charset="0"/>
              <a:buChar char="•"/>
            </a:pPr>
            <a:r>
              <a:rPr lang="en-US" sz="3400" b="1" dirty="0">
                <a:solidFill>
                  <a:schemeClr val="bg1"/>
                </a:solidFill>
              </a:rPr>
              <a:t>Operational Inputs:</a:t>
            </a:r>
            <a:r>
              <a:rPr lang="en-US" sz="3400" dirty="0">
                <a:solidFill>
                  <a:schemeClr val="bg1"/>
                </a:solidFill>
              </a:rPr>
              <a:t> </a:t>
            </a:r>
            <a:r>
              <a:rPr lang="en-US" sz="3400" dirty="0" err="1">
                <a:solidFill>
                  <a:schemeClr val="bg1"/>
                </a:solidFill>
              </a:rPr>
              <a:t>arr_flights</a:t>
            </a:r>
            <a:r>
              <a:rPr lang="en-US" sz="3400" dirty="0">
                <a:solidFill>
                  <a:schemeClr val="bg1"/>
                </a:solidFill>
              </a:rPr>
              <a:t>, arr_del15, airport, carrier.</a:t>
            </a:r>
          </a:p>
          <a:p>
            <a:pPr marL="457200" indent="-457200">
              <a:buFont typeface="Arial" panose="020B0604020202020204" pitchFamily="34" charset="0"/>
              <a:buChar char="•"/>
            </a:pPr>
            <a:r>
              <a:rPr lang="en-US" sz="3400" b="1" dirty="0">
                <a:solidFill>
                  <a:schemeClr val="bg1"/>
                </a:solidFill>
              </a:rPr>
              <a:t>Delay Attribution:</a:t>
            </a:r>
            <a:r>
              <a:rPr lang="en-US" sz="3400" dirty="0">
                <a:solidFill>
                  <a:schemeClr val="bg1"/>
                </a:solidFill>
              </a:rPr>
              <a:t> </a:t>
            </a:r>
            <a:r>
              <a:rPr lang="en-US" sz="3400" dirty="0" err="1">
                <a:solidFill>
                  <a:schemeClr val="bg1"/>
                </a:solidFill>
              </a:rPr>
              <a:t>carrier_delay</a:t>
            </a:r>
            <a:r>
              <a:rPr lang="en-US" sz="3400" dirty="0">
                <a:solidFill>
                  <a:schemeClr val="bg1"/>
                </a:solidFill>
              </a:rPr>
              <a:t>, </a:t>
            </a:r>
            <a:r>
              <a:rPr lang="en-US" sz="3400" dirty="0" err="1">
                <a:solidFill>
                  <a:schemeClr val="bg1"/>
                </a:solidFill>
              </a:rPr>
              <a:t>weather_delay</a:t>
            </a:r>
            <a:r>
              <a:rPr lang="en-US" sz="3400" dirty="0">
                <a:solidFill>
                  <a:schemeClr val="bg1"/>
                </a:solidFill>
              </a:rPr>
              <a:t>, </a:t>
            </a:r>
            <a:r>
              <a:rPr lang="en-US" sz="3400" dirty="0" err="1">
                <a:solidFill>
                  <a:schemeClr val="bg1"/>
                </a:solidFill>
              </a:rPr>
              <a:t>nas_delay</a:t>
            </a:r>
            <a:r>
              <a:rPr lang="en-US" sz="3400" dirty="0">
                <a:solidFill>
                  <a:schemeClr val="bg1"/>
                </a:solidFill>
              </a:rPr>
              <a:t>, </a:t>
            </a:r>
            <a:r>
              <a:rPr lang="en-US" sz="3400" dirty="0" err="1">
                <a:solidFill>
                  <a:schemeClr val="bg1"/>
                </a:solidFill>
              </a:rPr>
              <a:t>late_aircraft_delay</a:t>
            </a:r>
            <a:r>
              <a:rPr lang="en-US" sz="3400" dirty="0">
                <a:solidFill>
                  <a:schemeClr val="bg1"/>
                </a:solidFill>
              </a:rPr>
              <a:t> (critical features for prediction).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1028700" y="843868"/>
            <a:ext cx="7597650" cy="2650685"/>
            <a:chOff x="0" y="0"/>
            <a:chExt cx="1628282" cy="568079"/>
          </a:xfrm>
        </p:grpSpPr>
        <p:sp>
          <p:nvSpPr>
            <p:cNvPr id="3" name="Freeform 3"/>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330741" y="1029271"/>
            <a:ext cx="6962761" cy="2245873"/>
            <a:chOff x="0" y="0"/>
            <a:chExt cx="1492217" cy="481322"/>
          </a:xfrm>
        </p:grpSpPr>
        <p:sp>
          <p:nvSpPr>
            <p:cNvPr id="6" name="Freeform 6"/>
            <p:cNvSpPr/>
            <p:nvPr/>
          </p:nvSpPr>
          <p:spPr>
            <a:xfrm>
              <a:off x="0" y="0"/>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1330741" y="1222536"/>
            <a:ext cx="6962761" cy="1874300"/>
          </a:xfrm>
          <a:prstGeom prst="rect">
            <a:avLst/>
          </a:prstGeom>
        </p:spPr>
        <p:txBody>
          <a:bodyPr lIns="0" tIns="0" rIns="0" bIns="0" rtlCol="0" anchor="t">
            <a:spAutoFit/>
          </a:bodyPr>
          <a:lstStyle/>
          <a:p>
            <a:pPr algn="ctr">
              <a:lnSpc>
                <a:spcPts val="7493"/>
              </a:lnSpc>
            </a:pPr>
            <a:r>
              <a:rPr lang="en-US" sz="6043">
                <a:solidFill>
                  <a:srgbClr val="000000"/>
                </a:solidFill>
                <a:latin typeface="Open Sans Extra Bold"/>
              </a:rPr>
              <a:t>DATA PREPROCESSING</a:t>
            </a:r>
          </a:p>
        </p:txBody>
      </p:sp>
      <p:sp>
        <p:nvSpPr>
          <p:cNvPr id="13" name="TextBox 12">
            <a:extLst>
              <a:ext uri="{FF2B5EF4-FFF2-40B4-BE49-F238E27FC236}">
                <a16:creationId xmlns:a16="http://schemas.microsoft.com/office/drawing/2014/main" id="{ABE9874C-0A15-ADB5-8D2A-25E07B8EE555}"/>
              </a:ext>
            </a:extLst>
          </p:cNvPr>
          <p:cNvSpPr txBox="1"/>
          <p:nvPr/>
        </p:nvSpPr>
        <p:spPr>
          <a:xfrm>
            <a:off x="1219200" y="3771900"/>
            <a:ext cx="15011400" cy="5355312"/>
          </a:xfrm>
          <a:prstGeom prst="rect">
            <a:avLst/>
          </a:prstGeom>
          <a:noFill/>
        </p:spPr>
        <p:txBody>
          <a:bodyPr wrap="square" rtlCol="0">
            <a:spAutoFit/>
          </a:bodyPr>
          <a:lstStyle/>
          <a:p>
            <a:r>
              <a:rPr lang="en-US" sz="3600" b="1" dirty="0">
                <a:solidFill>
                  <a:schemeClr val="bg1"/>
                </a:solidFill>
              </a:rPr>
              <a:t>Data Cleaning &amp; Imputation</a:t>
            </a:r>
          </a:p>
          <a:p>
            <a:pPr marL="457200" indent="-457200">
              <a:buFont typeface="Arial" panose="020B0604020202020204" pitchFamily="34" charset="0"/>
              <a:buChar char="•"/>
            </a:pPr>
            <a:r>
              <a:rPr lang="en-US" sz="3600" b="1" dirty="0">
                <a:solidFill>
                  <a:schemeClr val="bg1"/>
                </a:solidFill>
              </a:rPr>
              <a:t>Targeted Imputation:</a:t>
            </a:r>
            <a:r>
              <a:rPr lang="en-US" sz="3600" dirty="0">
                <a:solidFill>
                  <a:schemeClr val="bg1"/>
                </a:solidFill>
              </a:rPr>
              <a:t> Missing values in numerical delay and count columns (</a:t>
            </a:r>
            <a:r>
              <a:rPr lang="en-US" sz="3600" dirty="0" err="1">
                <a:solidFill>
                  <a:schemeClr val="bg1"/>
                </a:solidFill>
              </a:rPr>
              <a:t>weather_ct</a:t>
            </a:r>
            <a:r>
              <a:rPr lang="en-US" sz="3600" dirty="0">
                <a:solidFill>
                  <a:schemeClr val="bg1"/>
                </a:solidFill>
              </a:rPr>
              <a:t>, </a:t>
            </a:r>
            <a:r>
              <a:rPr lang="en-US" sz="3600" dirty="0" err="1">
                <a:solidFill>
                  <a:schemeClr val="bg1"/>
                </a:solidFill>
              </a:rPr>
              <a:t>nas_delay</a:t>
            </a:r>
            <a:r>
              <a:rPr lang="en-US" sz="3600" dirty="0">
                <a:solidFill>
                  <a:schemeClr val="bg1"/>
                </a:solidFill>
              </a:rPr>
              <a:t>, etc.) are imputed with </a:t>
            </a:r>
            <a:r>
              <a:rPr lang="en-US" sz="3600" b="1" dirty="0">
                <a:solidFill>
                  <a:schemeClr val="bg1"/>
                </a:solidFill>
              </a:rPr>
              <a:t>zero (0).</a:t>
            </a:r>
          </a:p>
          <a:p>
            <a:pPr marL="457200" indent="-457200">
              <a:buFont typeface="Arial" panose="020B0604020202020204" pitchFamily="34" charset="0"/>
              <a:buChar char="•"/>
            </a:pPr>
            <a:r>
              <a:rPr lang="en-US" sz="3600" b="1" dirty="0">
                <a:solidFill>
                  <a:schemeClr val="bg1"/>
                </a:solidFill>
              </a:rPr>
              <a:t>Categorical Handling:</a:t>
            </a:r>
            <a:r>
              <a:rPr lang="en-US" sz="3600" dirty="0">
                <a:solidFill>
                  <a:schemeClr val="bg1"/>
                </a:solidFill>
              </a:rPr>
              <a:t> Missing values in categorical columns (carrier, airport) are replaced with the column's statistical </a:t>
            </a:r>
            <a:r>
              <a:rPr lang="en-US" sz="3600" b="1" dirty="0">
                <a:solidFill>
                  <a:schemeClr val="bg1"/>
                </a:solidFill>
              </a:rPr>
              <a:t>mode</a:t>
            </a:r>
            <a:r>
              <a:rPr lang="en-US" sz="3600" dirty="0">
                <a:solidFill>
                  <a:schemeClr val="bg1"/>
                </a:solidFill>
              </a:rPr>
              <a:t>.</a:t>
            </a:r>
            <a:endParaRPr lang="en-US" sz="3600" b="1" dirty="0">
              <a:solidFill>
                <a:schemeClr val="bg1"/>
              </a:solidFill>
            </a:endParaRPr>
          </a:p>
          <a:p>
            <a:pPr marL="457200" indent="-457200">
              <a:buFont typeface="Arial" panose="020B0604020202020204" pitchFamily="34" charset="0"/>
              <a:buChar char="•"/>
            </a:pPr>
            <a:r>
              <a:rPr lang="en-US" sz="3600" b="1" dirty="0">
                <a:solidFill>
                  <a:schemeClr val="bg1"/>
                </a:solidFill>
              </a:rPr>
              <a:t>Negative Values:</a:t>
            </a:r>
            <a:r>
              <a:rPr lang="en-US" sz="3600" dirty="0">
                <a:solidFill>
                  <a:schemeClr val="bg1"/>
                </a:solidFill>
              </a:rPr>
              <a:t> Any remaining negative values (e.g., in delay minutes) are replaced with </a:t>
            </a:r>
            <a:r>
              <a:rPr lang="en-US" sz="3600" b="1" dirty="0">
                <a:solidFill>
                  <a:schemeClr val="bg1"/>
                </a:solidFill>
              </a:rPr>
              <a:t>zero</a:t>
            </a:r>
            <a:r>
              <a:rPr lang="en-US" sz="3600" dirty="0">
                <a:solidFill>
                  <a:schemeClr val="bg1"/>
                </a:solidFill>
              </a:rPr>
              <a:t>, ensuring physical feasibility.</a:t>
            </a:r>
          </a:p>
          <a:p>
            <a:pPr marL="457200" indent="-457200">
              <a:buFont typeface="Arial" panose="020B0604020202020204" pitchFamily="34" charset="0"/>
              <a:buChar char="•"/>
            </a:pPr>
            <a:r>
              <a:rPr lang="en-US" sz="3600" b="1" dirty="0">
                <a:solidFill>
                  <a:schemeClr val="bg1"/>
                </a:solidFill>
              </a:rPr>
              <a:t>Critical Filtering:</a:t>
            </a:r>
            <a:r>
              <a:rPr lang="en-US" sz="3600" dirty="0">
                <a:solidFill>
                  <a:schemeClr val="bg1"/>
                </a:solidFill>
              </a:rPr>
              <a:t> Rows where </a:t>
            </a:r>
            <a:r>
              <a:rPr lang="en-US" sz="3600" dirty="0" err="1">
                <a:solidFill>
                  <a:schemeClr val="bg1"/>
                </a:solidFill>
              </a:rPr>
              <a:t>arr_flights</a:t>
            </a:r>
            <a:r>
              <a:rPr lang="en-US" sz="3600" dirty="0">
                <a:solidFill>
                  <a:schemeClr val="bg1"/>
                </a:solidFill>
              </a:rPr>
              <a:t> (Total Arriving Flights) is null or zero are dropped.</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BF8DA226-2D78-D966-8D5B-4686F55C1FC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D88B9BC-AE9A-048A-E92F-5045893CA121}"/>
              </a:ext>
            </a:extLst>
          </p:cNvPr>
          <p:cNvGrpSpPr/>
          <p:nvPr/>
        </p:nvGrpSpPr>
        <p:grpSpPr>
          <a:xfrm>
            <a:off x="1028700" y="843868"/>
            <a:ext cx="7597650" cy="2650685"/>
            <a:chOff x="0" y="0"/>
            <a:chExt cx="1628282" cy="568079"/>
          </a:xfrm>
        </p:grpSpPr>
        <p:sp>
          <p:nvSpPr>
            <p:cNvPr id="3" name="Freeform 3">
              <a:extLst>
                <a:ext uri="{FF2B5EF4-FFF2-40B4-BE49-F238E27FC236}">
                  <a16:creationId xmlns:a16="http://schemas.microsoft.com/office/drawing/2014/main" id="{B25F1F12-05BD-1365-B2F0-9A6C87817E52}"/>
                </a:ext>
              </a:extLst>
            </p:cNvPr>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a:extLst>
                <a:ext uri="{FF2B5EF4-FFF2-40B4-BE49-F238E27FC236}">
                  <a16:creationId xmlns:a16="http://schemas.microsoft.com/office/drawing/2014/main" id="{ECEABDF3-3B77-4271-DB05-C368400A5C0D}"/>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3E4DA70B-A760-7F9F-8E3B-466838AEA8F8}"/>
              </a:ext>
            </a:extLst>
          </p:cNvPr>
          <p:cNvGrpSpPr/>
          <p:nvPr/>
        </p:nvGrpSpPr>
        <p:grpSpPr>
          <a:xfrm>
            <a:off x="1330741" y="1029271"/>
            <a:ext cx="6962761" cy="2245873"/>
            <a:chOff x="0" y="0"/>
            <a:chExt cx="1492217" cy="481322"/>
          </a:xfrm>
        </p:grpSpPr>
        <p:sp>
          <p:nvSpPr>
            <p:cNvPr id="6" name="Freeform 6">
              <a:extLst>
                <a:ext uri="{FF2B5EF4-FFF2-40B4-BE49-F238E27FC236}">
                  <a16:creationId xmlns:a16="http://schemas.microsoft.com/office/drawing/2014/main" id="{87E8BB08-F8C6-F9D4-3AD9-029C9390A28A}"/>
                </a:ext>
              </a:extLst>
            </p:cNvPr>
            <p:cNvSpPr/>
            <p:nvPr/>
          </p:nvSpPr>
          <p:spPr>
            <a:xfrm>
              <a:off x="0" y="0"/>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a:p>
          </p:txBody>
        </p:sp>
        <p:sp>
          <p:nvSpPr>
            <p:cNvPr id="7" name="TextBox 7">
              <a:extLst>
                <a:ext uri="{FF2B5EF4-FFF2-40B4-BE49-F238E27FC236}">
                  <a16:creationId xmlns:a16="http://schemas.microsoft.com/office/drawing/2014/main" id="{DD7C3E0D-F27A-8F09-933F-F4B7DBB09D93}"/>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226DE1BC-45A5-86EA-7884-734B6A1125C2}"/>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0592645F-3ECF-D519-4576-D615A6835CFA}"/>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216B16C7-A14B-EB5C-53E9-C8BCA6F8A64B}"/>
              </a:ext>
            </a:extLst>
          </p:cNvPr>
          <p:cNvSpPr txBox="1"/>
          <p:nvPr/>
        </p:nvSpPr>
        <p:spPr>
          <a:xfrm>
            <a:off x="1330741" y="1222536"/>
            <a:ext cx="6962761" cy="1883208"/>
          </a:xfrm>
          <a:prstGeom prst="rect">
            <a:avLst/>
          </a:prstGeom>
        </p:spPr>
        <p:txBody>
          <a:bodyPr lIns="0" tIns="0" rIns="0" bIns="0" rtlCol="0" anchor="t">
            <a:spAutoFit/>
          </a:bodyPr>
          <a:lstStyle/>
          <a:p>
            <a:pPr algn="ctr">
              <a:lnSpc>
                <a:spcPts val="7493"/>
              </a:lnSpc>
            </a:pPr>
            <a:r>
              <a:rPr lang="en-US" sz="6043" dirty="0">
                <a:solidFill>
                  <a:srgbClr val="000000"/>
                </a:solidFill>
                <a:latin typeface="Open Sans Extra Bold"/>
              </a:rPr>
              <a:t>FEATURE ENGINEERING</a:t>
            </a:r>
          </a:p>
        </p:txBody>
      </p:sp>
      <p:sp>
        <p:nvSpPr>
          <p:cNvPr id="11" name="TextBox 10">
            <a:extLst>
              <a:ext uri="{FF2B5EF4-FFF2-40B4-BE49-F238E27FC236}">
                <a16:creationId xmlns:a16="http://schemas.microsoft.com/office/drawing/2014/main" id="{D33199A6-815B-5C2E-EE36-4F27EE8B6229}"/>
              </a:ext>
            </a:extLst>
          </p:cNvPr>
          <p:cNvSpPr txBox="1"/>
          <p:nvPr/>
        </p:nvSpPr>
        <p:spPr>
          <a:xfrm>
            <a:off x="1330741" y="3771900"/>
            <a:ext cx="14214059" cy="4678204"/>
          </a:xfrm>
          <a:prstGeom prst="rect">
            <a:avLst/>
          </a:prstGeom>
          <a:noFill/>
        </p:spPr>
        <p:txBody>
          <a:bodyPr wrap="square" rtlCol="0">
            <a:spAutoFit/>
          </a:bodyPr>
          <a:lstStyle/>
          <a:p>
            <a:pPr marL="571500" indent="-571500">
              <a:buFont typeface="Arial" panose="020B0604020202020204" pitchFamily="34" charset="0"/>
              <a:buChar char="•"/>
            </a:pPr>
            <a:r>
              <a:rPr lang="en-US" sz="4000" b="1" dirty="0">
                <a:solidFill>
                  <a:schemeClr val="bg1"/>
                </a:solidFill>
              </a:rPr>
              <a:t>Target Transformation:</a:t>
            </a:r>
            <a:r>
              <a:rPr lang="en-US" sz="4000" dirty="0">
                <a:solidFill>
                  <a:schemeClr val="bg1"/>
                </a:solidFill>
              </a:rPr>
              <a:t> Total delay minutes (</a:t>
            </a:r>
            <a:r>
              <a:rPr lang="en-US" sz="4000" dirty="0" err="1">
                <a:solidFill>
                  <a:schemeClr val="bg1"/>
                </a:solidFill>
              </a:rPr>
              <a:t>arr_delay</a:t>
            </a:r>
            <a:r>
              <a:rPr lang="en-US" sz="4000" dirty="0">
                <a:solidFill>
                  <a:schemeClr val="bg1"/>
                </a:solidFill>
              </a:rPr>
              <a:t>) is transformed into the target, Average Arrival Delay (minutes per flight).</a:t>
            </a:r>
          </a:p>
          <a:p>
            <a:pPr marL="571500" indent="-571500">
              <a:buFont typeface="Arial" panose="020B0604020202020204" pitchFamily="34" charset="0"/>
              <a:buChar char="•"/>
            </a:pPr>
            <a:r>
              <a:rPr lang="en-US" sz="4000" b="1" dirty="0">
                <a:solidFill>
                  <a:schemeClr val="bg1"/>
                </a:solidFill>
              </a:rPr>
              <a:t>Total Delay Causes:</a:t>
            </a:r>
            <a:r>
              <a:rPr lang="en-US" sz="4000" dirty="0">
                <a:solidFill>
                  <a:schemeClr val="bg1"/>
                </a:solidFill>
              </a:rPr>
              <a:t> </a:t>
            </a:r>
            <a:r>
              <a:rPr lang="en-US" sz="4000" dirty="0" err="1">
                <a:solidFill>
                  <a:schemeClr val="bg1"/>
                </a:solidFill>
              </a:rPr>
              <a:t>carrier_delay</a:t>
            </a:r>
            <a:r>
              <a:rPr lang="en-US" sz="4000" dirty="0">
                <a:solidFill>
                  <a:schemeClr val="bg1"/>
                </a:solidFill>
              </a:rPr>
              <a:t> + </a:t>
            </a:r>
            <a:r>
              <a:rPr lang="en-US" sz="4000" dirty="0" err="1">
                <a:solidFill>
                  <a:schemeClr val="bg1"/>
                </a:solidFill>
              </a:rPr>
              <a:t>weather_delay</a:t>
            </a:r>
            <a:r>
              <a:rPr lang="en-US" sz="4000" dirty="0">
                <a:solidFill>
                  <a:schemeClr val="bg1"/>
                </a:solidFill>
              </a:rPr>
              <a:t> + </a:t>
            </a:r>
            <a:r>
              <a:rPr lang="en-US" sz="4000" dirty="0" err="1">
                <a:solidFill>
                  <a:schemeClr val="bg1"/>
                </a:solidFill>
              </a:rPr>
              <a:t>nas_delay</a:t>
            </a:r>
            <a:r>
              <a:rPr lang="en-US" sz="4000" dirty="0">
                <a:solidFill>
                  <a:schemeClr val="bg1"/>
                </a:solidFill>
              </a:rPr>
              <a:t> + </a:t>
            </a:r>
            <a:r>
              <a:rPr lang="en-US" sz="4000" dirty="0" err="1">
                <a:solidFill>
                  <a:schemeClr val="bg1"/>
                </a:solidFill>
              </a:rPr>
              <a:t>security_delay</a:t>
            </a:r>
            <a:r>
              <a:rPr lang="en-US" sz="4000" dirty="0">
                <a:solidFill>
                  <a:schemeClr val="bg1"/>
                </a:solidFill>
              </a:rPr>
              <a:t> + </a:t>
            </a:r>
            <a:r>
              <a:rPr lang="en-US" sz="4000" dirty="0" err="1">
                <a:solidFill>
                  <a:schemeClr val="bg1"/>
                </a:solidFill>
              </a:rPr>
              <a:t>late_aircraft_delay</a:t>
            </a:r>
            <a:r>
              <a:rPr lang="en-US" sz="4000" dirty="0">
                <a:solidFill>
                  <a:schemeClr val="bg1"/>
                </a:solidFill>
              </a:rPr>
              <a:t>.</a:t>
            </a:r>
          </a:p>
          <a:p>
            <a:pPr marL="571500" indent="-571500">
              <a:buFont typeface="Arial" panose="020B0604020202020204" pitchFamily="34" charset="0"/>
              <a:buChar char="•"/>
            </a:pPr>
            <a:r>
              <a:rPr lang="en-US" sz="4000" b="1" dirty="0">
                <a:solidFill>
                  <a:schemeClr val="bg1"/>
                </a:solidFill>
              </a:rPr>
              <a:t>Operational Rate:</a:t>
            </a:r>
            <a:r>
              <a:rPr lang="en-US" sz="4000" dirty="0">
                <a:solidFill>
                  <a:schemeClr val="bg1"/>
                </a:solidFill>
              </a:rPr>
              <a:t> </a:t>
            </a:r>
            <a:r>
              <a:rPr lang="en-US" sz="4000" dirty="0" err="1">
                <a:solidFill>
                  <a:schemeClr val="bg1"/>
                </a:solidFill>
              </a:rPr>
              <a:t>Delay_rate</a:t>
            </a:r>
            <a:r>
              <a:rPr lang="en-US" sz="4000" dirty="0">
                <a:solidFill>
                  <a:schemeClr val="bg1"/>
                </a:solidFill>
              </a:rPr>
              <a:t> = (arr_del15 / </a:t>
            </a:r>
            <a:r>
              <a:rPr lang="en-US" sz="4000" dirty="0" err="1">
                <a:solidFill>
                  <a:schemeClr val="bg1"/>
                </a:solidFill>
              </a:rPr>
              <a:t>arr_flights</a:t>
            </a:r>
            <a:r>
              <a:rPr lang="en-US" sz="4000" dirty="0">
                <a:solidFill>
                  <a:schemeClr val="bg1"/>
                </a:solidFill>
              </a:rPr>
              <a:t>).</a:t>
            </a:r>
          </a:p>
          <a:p>
            <a:pPr marL="571500" indent="-571500">
              <a:buFont typeface="Arial" panose="020B0604020202020204" pitchFamily="34" charset="0"/>
              <a:buChar char="•"/>
            </a:pPr>
            <a:r>
              <a:rPr lang="en-US" sz="4000" b="1" dirty="0">
                <a:solidFill>
                  <a:schemeClr val="bg1"/>
                </a:solidFill>
              </a:rPr>
              <a:t>Volume Estimation:</a:t>
            </a:r>
            <a:r>
              <a:rPr lang="en-US" sz="4000" dirty="0">
                <a:solidFill>
                  <a:schemeClr val="bg1"/>
                </a:solidFill>
              </a:rPr>
              <a:t> </a:t>
            </a:r>
            <a:r>
              <a:rPr lang="en-US" sz="4000" dirty="0" err="1">
                <a:solidFill>
                  <a:schemeClr val="bg1"/>
                </a:solidFill>
              </a:rPr>
              <a:t>Flights_per_day</a:t>
            </a:r>
            <a:r>
              <a:rPr lang="en-US" sz="4000" dirty="0">
                <a:solidFill>
                  <a:schemeClr val="bg1"/>
                </a:solidFill>
              </a:rPr>
              <a:t> = ['</a:t>
            </a:r>
            <a:r>
              <a:rPr lang="en-US" sz="4000" dirty="0" err="1">
                <a:solidFill>
                  <a:schemeClr val="bg1"/>
                </a:solidFill>
              </a:rPr>
              <a:t>arr_flights</a:t>
            </a:r>
            <a:r>
              <a:rPr lang="en-US" sz="4000" dirty="0">
                <a:solidFill>
                  <a:schemeClr val="bg1"/>
                </a:solidFill>
              </a:rPr>
              <a:t>'] / 30.0.</a:t>
            </a:r>
          </a:p>
          <a:p>
            <a:endParaRPr lang="en-US" dirty="0"/>
          </a:p>
        </p:txBody>
      </p:sp>
    </p:spTree>
    <p:extLst>
      <p:ext uri="{BB962C8B-B14F-4D97-AF65-F5344CB8AC3E}">
        <p14:creationId xmlns:p14="http://schemas.microsoft.com/office/powerpoint/2010/main" val="25564754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2667000" y="193373"/>
            <a:ext cx="12763500" cy="2650685"/>
            <a:chOff x="0" y="0"/>
            <a:chExt cx="1628282" cy="568079"/>
          </a:xfrm>
        </p:grpSpPr>
        <p:sp>
          <p:nvSpPr>
            <p:cNvPr id="3" name="Freeform 3"/>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945157" y="395778"/>
            <a:ext cx="12156659" cy="2245873"/>
            <a:chOff x="0" y="0"/>
            <a:chExt cx="1492217" cy="481322"/>
          </a:xfrm>
        </p:grpSpPr>
        <p:sp>
          <p:nvSpPr>
            <p:cNvPr id="6" name="Freeform 6"/>
            <p:cNvSpPr/>
            <p:nvPr/>
          </p:nvSpPr>
          <p:spPr>
            <a:xfrm>
              <a:off x="0" y="0"/>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2857500" y="488088"/>
            <a:ext cx="12156659" cy="1883208"/>
          </a:xfrm>
          <a:prstGeom prst="rect">
            <a:avLst/>
          </a:prstGeom>
        </p:spPr>
        <p:txBody>
          <a:bodyPr wrap="square" lIns="0" tIns="0" rIns="0" bIns="0" rtlCol="0" anchor="t">
            <a:spAutoFit/>
          </a:bodyPr>
          <a:lstStyle/>
          <a:p>
            <a:pPr algn="ctr">
              <a:lnSpc>
                <a:spcPts val="7493"/>
              </a:lnSpc>
            </a:pPr>
            <a:r>
              <a:rPr lang="en-US" sz="6043" dirty="0">
                <a:solidFill>
                  <a:srgbClr val="000000"/>
                </a:solidFill>
                <a:latin typeface="Open Sans Extra Bold"/>
              </a:rPr>
              <a:t>DATA </a:t>
            </a:r>
          </a:p>
          <a:p>
            <a:pPr algn="ctr">
              <a:lnSpc>
                <a:spcPts val="7493"/>
              </a:lnSpc>
            </a:pPr>
            <a:r>
              <a:rPr lang="en-US" sz="6043" dirty="0">
                <a:solidFill>
                  <a:srgbClr val="000000"/>
                </a:solidFill>
                <a:latin typeface="Open Sans Extra Bold"/>
              </a:rPr>
              <a:t>ANALYSIS/VISUALIZATIONS</a:t>
            </a:r>
          </a:p>
        </p:txBody>
      </p:sp>
      <p:sp>
        <p:nvSpPr>
          <p:cNvPr id="11" name="TextBox 11"/>
          <p:cNvSpPr txBox="1"/>
          <p:nvPr/>
        </p:nvSpPr>
        <p:spPr>
          <a:xfrm>
            <a:off x="1143000" y="3138773"/>
            <a:ext cx="13388648" cy="5530472"/>
          </a:xfrm>
          <a:prstGeom prst="rect">
            <a:avLst/>
          </a:prstGeom>
        </p:spPr>
        <p:txBody>
          <a:bodyPr lIns="0" tIns="0" rIns="0" bIns="0" rtlCol="0" anchor="t">
            <a:spAutoFit/>
          </a:bodyPr>
          <a:lstStyle/>
          <a:p>
            <a:pPr marL="734051" lvl="1" indent="-367026">
              <a:lnSpc>
                <a:spcPts val="6357"/>
              </a:lnSpc>
              <a:buFont typeface="Arial"/>
              <a:buChar char="•"/>
            </a:pPr>
            <a:r>
              <a:rPr lang="en-US" sz="3399" dirty="0">
                <a:solidFill>
                  <a:srgbClr val="FFFFFF"/>
                </a:solidFill>
                <a:latin typeface="Open Sans Bold"/>
              </a:rPr>
              <a:t>What is the average delay time for each airline?</a:t>
            </a:r>
          </a:p>
          <a:p>
            <a:pPr marL="734051" lvl="1" indent="-367026">
              <a:lnSpc>
                <a:spcPts val="6357"/>
              </a:lnSpc>
              <a:buFont typeface="Arial"/>
              <a:buChar char="•"/>
            </a:pPr>
            <a:r>
              <a:rPr lang="en-US" sz="3399" dirty="0">
                <a:solidFill>
                  <a:srgbClr val="FFFFFF"/>
                </a:solidFill>
                <a:latin typeface="Open Sans Bold"/>
              </a:rPr>
              <a:t> Which are the top 10 airlines with the most delay time?</a:t>
            </a:r>
          </a:p>
          <a:p>
            <a:pPr marL="734051" lvl="1" indent="-367026">
              <a:lnSpc>
                <a:spcPts val="6357"/>
              </a:lnSpc>
              <a:buFont typeface="Arial"/>
              <a:buChar char="•"/>
            </a:pPr>
            <a:r>
              <a:rPr lang="en-US" sz="3399" dirty="0">
                <a:solidFill>
                  <a:srgbClr val="FFFFFF"/>
                </a:solidFill>
                <a:latin typeface="Open Sans Bold"/>
              </a:rPr>
              <a:t>What is the most common cause of delays?</a:t>
            </a:r>
          </a:p>
          <a:p>
            <a:pPr marL="734051" lvl="1" indent="-367026">
              <a:lnSpc>
                <a:spcPts val="6357"/>
              </a:lnSpc>
              <a:buFont typeface="Arial"/>
              <a:buChar char="•"/>
            </a:pPr>
            <a:r>
              <a:rPr lang="en-US" sz="3399" dirty="0">
                <a:solidFill>
                  <a:srgbClr val="FFFFFF"/>
                </a:solidFill>
                <a:latin typeface="Open Sans Bold"/>
              </a:rPr>
              <a:t>How does distance relate to delay time?</a:t>
            </a:r>
          </a:p>
          <a:p>
            <a:pPr marL="734051" lvl="1" indent="-367026">
              <a:lnSpc>
                <a:spcPts val="6357"/>
              </a:lnSpc>
              <a:buFont typeface="Arial"/>
              <a:buChar char="•"/>
            </a:pPr>
            <a:r>
              <a:rPr lang="en-US" sz="3399" dirty="0">
                <a:solidFill>
                  <a:srgbClr val="FFFFFF"/>
                </a:solidFill>
                <a:latin typeface="Open Sans Bold"/>
              </a:rPr>
              <a:t>Which airport experiences the highest flight volume?</a:t>
            </a:r>
          </a:p>
          <a:p>
            <a:pPr marL="734051" lvl="1" indent="-367026">
              <a:lnSpc>
                <a:spcPts val="6357"/>
              </a:lnSpc>
              <a:buFont typeface="Arial"/>
              <a:buChar char="•"/>
            </a:pPr>
            <a:r>
              <a:rPr lang="en-US" sz="3399" dirty="0">
                <a:solidFill>
                  <a:srgbClr val="FFFFFF"/>
                </a:solidFill>
                <a:latin typeface="Open Sans Bold"/>
              </a:rPr>
              <a:t>What is the average delay time by day of the week?</a:t>
            </a:r>
          </a:p>
          <a:p>
            <a:pPr marL="734051" lvl="1" indent="-367026">
              <a:lnSpc>
                <a:spcPts val="6357"/>
              </a:lnSpc>
              <a:buFont typeface="Arial"/>
              <a:buChar char="•"/>
            </a:pPr>
            <a:r>
              <a:rPr lang="en-US" sz="3399" dirty="0">
                <a:solidFill>
                  <a:srgbClr val="FFFFFF"/>
                </a:solidFill>
                <a:latin typeface="Open Sans Bold"/>
              </a:rPr>
              <a:t>What is the average delay time by month?</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30AAB75B-3B03-63AA-6AE4-EF3A4A9AE1A4}"/>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6EDB002D-CC73-8489-5A3F-A974A723D139}"/>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AD99001D-D6E4-6125-A582-CE65CB67F752}"/>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8">
            <a:extLst>
              <a:ext uri="{FF2B5EF4-FFF2-40B4-BE49-F238E27FC236}">
                <a16:creationId xmlns:a16="http://schemas.microsoft.com/office/drawing/2014/main" id="{332EB332-9994-B1AF-3624-AA1B0EAC6765}"/>
              </a:ext>
            </a:extLst>
          </p:cNvPr>
          <p:cNvSpPr/>
          <p:nvPr/>
        </p:nvSpPr>
        <p:spPr>
          <a:xfrm rot="15316670" flipV="1">
            <a:off x="16173339" y="216997"/>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3" name="Freeform 9">
            <a:extLst>
              <a:ext uri="{FF2B5EF4-FFF2-40B4-BE49-F238E27FC236}">
                <a16:creationId xmlns:a16="http://schemas.microsoft.com/office/drawing/2014/main" id="{9914A41C-2615-F88B-FD9B-D3E1E1464BED}"/>
              </a:ext>
            </a:extLst>
          </p:cNvPr>
          <p:cNvSpPr/>
          <p:nvPr/>
        </p:nvSpPr>
        <p:spPr>
          <a:xfrm rot="16921343">
            <a:off x="16787222" y="597101"/>
            <a:ext cx="2465127" cy="2150824"/>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TextBox 1">
            <a:extLst>
              <a:ext uri="{FF2B5EF4-FFF2-40B4-BE49-F238E27FC236}">
                <a16:creationId xmlns:a16="http://schemas.microsoft.com/office/drawing/2014/main" id="{2F6C1640-134D-A83C-05A3-D39A7D1EE1C5}"/>
              </a:ext>
            </a:extLst>
          </p:cNvPr>
          <p:cNvSpPr txBox="1"/>
          <p:nvPr/>
        </p:nvSpPr>
        <p:spPr>
          <a:xfrm>
            <a:off x="609600" y="965592"/>
            <a:ext cx="8534400" cy="707886"/>
          </a:xfrm>
          <a:prstGeom prst="rect">
            <a:avLst/>
          </a:prstGeom>
          <a:noFill/>
        </p:spPr>
        <p:txBody>
          <a:bodyPr wrap="square" rtlCol="0">
            <a:spAutoFit/>
          </a:bodyPr>
          <a:lstStyle/>
          <a:p>
            <a:r>
              <a:rPr lang="en-US" sz="4000" b="1" dirty="0">
                <a:solidFill>
                  <a:schemeClr val="bg1"/>
                </a:solidFill>
              </a:rPr>
              <a:t>Trend of Flight Delays Over the Years</a:t>
            </a:r>
          </a:p>
        </p:txBody>
      </p:sp>
      <p:pic>
        <p:nvPicPr>
          <p:cNvPr id="4" name="Picture 3">
            <a:extLst>
              <a:ext uri="{FF2B5EF4-FFF2-40B4-BE49-F238E27FC236}">
                <a16:creationId xmlns:a16="http://schemas.microsoft.com/office/drawing/2014/main" id="{68D7E661-3936-87B4-29F0-99B1B051283D}"/>
              </a:ext>
            </a:extLst>
          </p:cNvPr>
          <p:cNvPicPr>
            <a:picLocks noChangeAspect="1"/>
          </p:cNvPicPr>
          <p:nvPr/>
        </p:nvPicPr>
        <p:blipFill>
          <a:blip r:embed="rId6"/>
          <a:stretch>
            <a:fillRect/>
          </a:stretch>
        </p:blipFill>
        <p:spPr>
          <a:xfrm>
            <a:off x="533400" y="2323553"/>
            <a:ext cx="8164064" cy="6287376"/>
          </a:xfrm>
          <a:prstGeom prst="rect">
            <a:avLst/>
          </a:prstGeom>
        </p:spPr>
      </p:pic>
      <p:sp>
        <p:nvSpPr>
          <p:cNvPr id="5" name="TextBox 4">
            <a:extLst>
              <a:ext uri="{FF2B5EF4-FFF2-40B4-BE49-F238E27FC236}">
                <a16:creationId xmlns:a16="http://schemas.microsoft.com/office/drawing/2014/main" id="{EA7A5487-F37B-837A-8798-850363760E07}"/>
              </a:ext>
            </a:extLst>
          </p:cNvPr>
          <p:cNvSpPr txBox="1"/>
          <p:nvPr/>
        </p:nvSpPr>
        <p:spPr>
          <a:xfrm>
            <a:off x="9471719" y="938466"/>
            <a:ext cx="8718420" cy="707886"/>
          </a:xfrm>
          <a:prstGeom prst="rect">
            <a:avLst/>
          </a:prstGeom>
          <a:noFill/>
        </p:spPr>
        <p:txBody>
          <a:bodyPr wrap="square" rtlCol="0">
            <a:spAutoFit/>
          </a:bodyPr>
          <a:lstStyle/>
          <a:p>
            <a:r>
              <a:rPr lang="en-US" sz="4000" b="1" dirty="0">
                <a:solidFill>
                  <a:schemeClr val="bg1"/>
                </a:solidFill>
              </a:rPr>
              <a:t>Airlines that Have the Most Delays</a:t>
            </a:r>
          </a:p>
        </p:txBody>
      </p:sp>
      <p:pic>
        <p:nvPicPr>
          <p:cNvPr id="7" name="Picture 6">
            <a:extLst>
              <a:ext uri="{FF2B5EF4-FFF2-40B4-BE49-F238E27FC236}">
                <a16:creationId xmlns:a16="http://schemas.microsoft.com/office/drawing/2014/main" id="{34941934-3DEC-FFE8-8515-0D88D7879126}"/>
              </a:ext>
            </a:extLst>
          </p:cNvPr>
          <p:cNvPicPr>
            <a:picLocks noChangeAspect="1"/>
          </p:cNvPicPr>
          <p:nvPr/>
        </p:nvPicPr>
        <p:blipFill>
          <a:blip r:embed="rId7"/>
          <a:stretch>
            <a:fillRect/>
          </a:stretch>
        </p:blipFill>
        <p:spPr>
          <a:xfrm>
            <a:off x="8962649" y="2327111"/>
            <a:ext cx="8791952" cy="6287377"/>
          </a:xfrm>
          <a:prstGeom prst="rect">
            <a:avLst/>
          </a:prstGeom>
        </p:spPr>
      </p:pic>
    </p:spTree>
    <p:extLst>
      <p:ext uri="{BB962C8B-B14F-4D97-AF65-F5344CB8AC3E}">
        <p14:creationId xmlns:p14="http://schemas.microsoft.com/office/powerpoint/2010/main" val="15824880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712FC06B-0E31-3141-60C2-2E24880F43EB}"/>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3EEB8C12-B7B2-A58C-6D75-15124CB8D0A9}"/>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780D0AD8-5609-E6D6-D186-47BA5B4CF1D6}"/>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8">
            <a:extLst>
              <a:ext uri="{FF2B5EF4-FFF2-40B4-BE49-F238E27FC236}">
                <a16:creationId xmlns:a16="http://schemas.microsoft.com/office/drawing/2014/main" id="{3499A143-B617-3DC2-4F02-4C8BD91C3756}"/>
              </a:ext>
            </a:extLst>
          </p:cNvPr>
          <p:cNvSpPr/>
          <p:nvPr/>
        </p:nvSpPr>
        <p:spPr>
          <a:xfrm rot="15316670" flipV="1">
            <a:off x="7911437" y="9000910"/>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9">
            <a:extLst>
              <a:ext uri="{FF2B5EF4-FFF2-40B4-BE49-F238E27FC236}">
                <a16:creationId xmlns:a16="http://schemas.microsoft.com/office/drawing/2014/main" id="{E0A22B2E-7121-8E05-AB35-10B6C4F30DC0}"/>
              </a:ext>
            </a:extLst>
          </p:cNvPr>
          <p:cNvSpPr/>
          <p:nvPr/>
        </p:nvSpPr>
        <p:spPr>
          <a:xfrm rot="16921343">
            <a:off x="8305596" y="8493496"/>
            <a:ext cx="2465127" cy="2150824"/>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TextBox 1">
            <a:extLst>
              <a:ext uri="{FF2B5EF4-FFF2-40B4-BE49-F238E27FC236}">
                <a16:creationId xmlns:a16="http://schemas.microsoft.com/office/drawing/2014/main" id="{D510E7D3-F010-ED33-4951-7FE2E0AB0978}"/>
              </a:ext>
            </a:extLst>
          </p:cNvPr>
          <p:cNvSpPr txBox="1"/>
          <p:nvPr/>
        </p:nvSpPr>
        <p:spPr>
          <a:xfrm>
            <a:off x="1658493" y="879402"/>
            <a:ext cx="7162800" cy="707886"/>
          </a:xfrm>
          <a:prstGeom prst="rect">
            <a:avLst/>
          </a:prstGeom>
          <a:noFill/>
        </p:spPr>
        <p:txBody>
          <a:bodyPr wrap="square" rtlCol="0">
            <a:spAutoFit/>
          </a:bodyPr>
          <a:lstStyle/>
          <a:p>
            <a:r>
              <a:rPr lang="en-US" sz="4000" b="1" dirty="0">
                <a:solidFill>
                  <a:schemeClr val="bg1"/>
                </a:solidFill>
              </a:rPr>
              <a:t>Delay Factors Breakdown</a:t>
            </a:r>
          </a:p>
        </p:txBody>
      </p:sp>
      <p:pic>
        <p:nvPicPr>
          <p:cNvPr id="4" name="Picture 3">
            <a:extLst>
              <a:ext uri="{FF2B5EF4-FFF2-40B4-BE49-F238E27FC236}">
                <a16:creationId xmlns:a16="http://schemas.microsoft.com/office/drawing/2014/main" id="{D90859D6-81E6-B109-5C35-FA4BE582719E}"/>
              </a:ext>
            </a:extLst>
          </p:cNvPr>
          <p:cNvPicPr>
            <a:picLocks noChangeAspect="1"/>
          </p:cNvPicPr>
          <p:nvPr/>
        </p:nvPicPr>
        <p:blipFill>
          <a:blip r:embed="rId6"/>
          <a:stretch>
            <a:fillRect/>
          </a:stretch>
        </p:blipFill>
        <p:spPr>
          <a:xfrm>
            <a:off x="457200" y="2177006"/>
            <a:ext cx="8364093" cy="6244007"/>
          </a:xfrm>
          <a:prstGeom prst="rect">
            <a:avLst/>
          </a:prstGeom>
        </p:spPr>
      </p:pic>
      <p:sp>
        <p:nvSpPr>
          <p:cNvPr id="5" name="TextBox 4">
            <a:extLst>
              <a:ext uri="{FF2B5EF4-FFF2-40B4-BE49-F238E27FC236}">
                <a16:creationId xmlns:a16="http://schemas.microsoft.com/office/drawing/2014/main" id="{8BBC63E5-CD07-3D11-0FF6-0B2EB20A2145}"/>
              </a:ext>
            </a:extLst>
          </p:cNvPr>
          <p:cNvSpPr txBox="1"/>
          <p:nvPr/>
        </p:nvSpPr>
        <p:spPr>
          <a:xfrm>
            <a:off x="10363200" y="885657"/>
            <a:ext cx="6629400" cy="707886"/>
          </a:xfrm>
          <a:prstGeom prst="rect">
            <a:avLst/>
          </a:prstGeom>
          <a:noFill/>
        </p:spPr>
        <p:txBody>
          <a:bodyPr wrap="square" rtlCol="0">
            <a:spAutoFit/>
          </a:bodyPr>
          <a:lstStyle/>
          <a:p>
            <a:r>
              <a:rPr lang="en-US" sz="4000" b="1" dirty="0">
                <a:solidFill>
                  <a:schemeClr val="bg1"/>
                </a:solidFill>
              </a:rPr>
              <a:t>Monthly Seasonality of Delays</a:t>
            </a:r>
          </a:p>
        </p:txBody>
      </p:sp>
      <p:pic>
        <p:nvPicPr>
          <p:cNvPr id="7" name="Picture 6">
            <a:extLst>
              <a:ext uri="{FF2B5EF4-FFF2-40B4-BE49-F238E27FC236}">
                <a16:creationId xmlns:a16="http://schemas.microsoft.com/office/drawing/2014/main" id="{39F22EF7-3464-B486-1A8D-3A3A20D27463}"/>
              </a:ext>
            </a:extLst>
          </p:cNvPr>
          <p:cNvPicPr>
            <a:picLocks noChangeAspect="1"/>
          </p:cNvPicPr>
          <p:nvPr/>
        </p:nvPicPr>
        <p:blipFill>
          <a:blip r:embed="rId7"/>
          <a:stretch>
            <a:fillRect/>
          </a:stretch>
        </p:blipFill>
        <p:spPr>
          <a:xfrm>
            <a:off x="9144001" y="2173309"/>
            <a:ext cx="8686800" cy="6251400"/>
          </a:xfrm>
          <a:prstGeom prst="rect">
            <a:avLst/>
          </a:prstGeom>
        </p:spPr>
      </p:pic>
    </p:spTree>
    <p:extLst>
      <p:ext uri="{BB962C8B-B14F-4D97-AF65-F5344CB8AC3E}">
        <p14:creationId xmlns:p14="http://schemas.microsoft.com/office/powerpoint/2010/main" val="12633182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14F2A6EF-3DB2-7A73-B91A-90EE7BF457E4}"/>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853937AD-FCAD-C8D6-5277-6ACDACF78D33}"/>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55DCB843-FE15-8164-58C0-C1F27E64E34D}"/>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8">
            <a:extLst>
              <a:ext uri="{FF2B5EF4-FFF2-40B4-BE49-F238E27FC236}">
                <a16:creationId xmlns:a16="http://schemas.microsoft.com/office/drawing/2014/main" id="{0CE17A7B-6933-1377-ABF7-9D3B4F5CE897}"/>
              </a:ext>
            </a:extLst>
          </p:cNvPr>
          <p:cNvSpPr/>
          <p:nvPr/>
        </p:nvSpPr>
        <p:spPr>
          <a:xfrm rot="15316670" flipV="1">
            <a:off x="7435977" y="8619530"/>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9">
            <a:extLst>
              <a:ext uri="{FF2B5EF4-FFF2-40B4-BE49-F238E27FC236}">
                <a16:creationId xmlns:a16="http://schemas.microsoft.com/office/drawing/2014/main" id="{D01145DE-A254-8467-60FE-D42B06C434D9}"/>
              </a:ext>
            </a:extLst>
          </p:cNvPr>
          <p:cNvSpPr/>
          <p:nvPr/>
        </p:nvSpPr>
        <p:spPr>
          <a:xfrm rot="16921343">
            <a:off x="8150237" y="9211587"/>
            <a:ext cx="2465127" cy="2150824"/>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TextBox 1">
            <a:extLst>
              <a:ext uri="{FF2B5EF4-FFF2-40B4-BE49-F238E27FC236}">
                <a16:creationId xmlns:a16="http://schemas.microsoft.com/office/drawing/2014/main" id="{CB488941-A9E7-E76B-1444-378C329245A2}"/>
              </a:ext>
            </a:extLst>
          </p:cNvPr>
          <p:cNvSpPr txBox="1"/>
          <p:nvPr/>
        </p:nvSpPr>
        <p:spPr>
          <a:xfrm>
            <a:off x="507166" y="1014352"/>
            <a:ext cx="8875635" cy="1323439"/>
          </a:xfrm>
          <a:prstGeom prst="rect">
            <a:avLst/>
          </a:prstGeom>
          <a:noFill/>
        </p:spPr>
        <p:txBody>
          <a:bodyPr wrap="none" rtlCol="0">
            <a:spAutoFit/>
          </a:bodyPr>
          <a:lstStyle/>
          <a:p>
            <a:r>
              <a:rPr lang="en-US" sz="4000" b="1" dirty="0">
                <a:solidFill>
                  <a:schemeClr val="bg1"/>
                </a:solidFill>
              </a:rPr>
              <a:t>Relationship Between Number of Flights </a:t>
            </a:r>
          </a:p>
          <a:p>
            <a:pPr algn="ctr"/>
            <a:r>
              <a:rPr lang="en-US" sz="4000" b="1" dirty="0">
                <a:solidFill>
                  <a:schemeClr val="bg1"/>
                </a:solidFill>
              </a:rPr>
              <a:t>and Delays</a:t>
            </a:r>
          </a:p>
        </p:txBody>
      </p:sp>
      <p:pic>
        <p:nvPicPr>
          <p:cNvPr id="5" name="Picture 4">
            <a:extLst>
              <a:ext uri="{FF2B5EF4-FFF2-40B4-BE49-F238E27FC236}">
                <a16:creationId xmlns:a16="http://schemas.microsoft.com/office/drawing/2014/main" id="{6237D4D3-EE2E-4D84-5DF7-0B36ED8875BF}"/>
              </a:ext>
            </a:extLst>
          </p:cNvPr>
          <p:cNvPicPr>
            <a:picLocks noChangeAspect="1"/>
          </p:cNvPicPr>
          <p:nvPr/>
        </p:nvPicPr>
        <p:blipFill>
          <a:blip r:embed="rId6"/>
          <a:stretch>
            <a:fillRect/>
          </a:stretch>
        </p:blipFill>
        <p:spPr>
          <a:xfrm>
            <a:off x="501479" y="2769752"/>
            <a:ext cx="8478433" cy="5841176"/>
          </a:xfrm>
          <a:prstGeom prst="rect">
            <a:avLst/>
          </a:prstGeom>
        </p:spPr>
      </p:pic>
      <p:pic>
        <p:nvPicPr>
          <p:cNvPr id="10" name="Picture 9">
            <a:extLst>
              <a:ext uri="{FF2B5EF4-FFF2-40B4-BE49-F238E27FC236}">
                <a16:creationId xmlns:a16="http://schemas.microsoft.com/office/drawing/2014/main" id="{6D1919F5-D71F-B842-BB6D-EC9A0B737913}"/>
              </a:ext>
            </a:extLst>
          </p:cNvPr>
          <p:cNvPicPr>
            <a:picLocks noChangeAspect="1"/>
          </p:cNvPicPr>
          <p:nvPr/>
        </p:nvPicPr>
        <p:blipFill>
          <a:blip r:embed="rId7"/>
          <a:stretch>
            <a:fillRect/>
          </a:stretch>
        </p:blipFill>
        <p:spPr>
          <a:xfrm>
            <a:off x="9307775" y="2769753"/>
            <a:ext cx="8526064" cy="5841176"/>
          </a:xfrm>
          <a:prstGeom prst="rect">
            <a:avLst/>
          </a:prstGeom>
        </p:spPr>
      </p:pic>
      <p:sp>
        <p:nvSpPr>
          <p:cNvPr id="11" name="TextBox 10">
            <a:extLst>
              <a:ext uri="{FF2B5EF4-FFF2-40B4-BE49-F238E27FC236}">
                <a16:creationId xmlns:a16="http://schemas.microsoft.com/office/drawing/2014/main" id="{B4B3AA1B-C1A4-C7CF-552C-0C2773573EC9}"/>
              </a:ext>
            </a:extLst>
          </p:cNvPr>
          <p:cNvSpPr txBox="1"/>
          <p:nvPr/>
        </p:nvSpPr>
        <p:spPr>
          <a:xfrm>
            <a:off x="9525000" y="1014351"/>
            <a:ext cx="8526064" cy="1323439"/>
          </a:xfrm>
          <a:prstGeom prst="rect">
            <a:avLst/>
          </a:prstGeom>
          <a:noFill/>
        </p:spPr>
        <p:txBody>
          <a:bodyPr wrap="square" rtlCol="0">
            <a:spAutoFit/>
          </a:bodyPr>
          <a:lstStyle/>
          <a:p>
            <a:r>
              <a:rPr lang="en-US" sz="4000" b="1" dirty="0">
                <a:solidFill>
                  <a:schemeClr val="bg1"/>
                </a:solidFill>
              </a:rPr>
              <a:t>Top 10 Airports With Highest Average </a:t>
            </a:r>
          </a:p>
          <a:p>
            <a:pPr algn="ctr"/>
            <a:r>
              <a:rPr lang="en-US" sz="4000" b="1" dirty="0">
                <a:solidFill>
                  <a:schemeClr val="bg1"/>
                </a:solidFill>
              </a:rPr>
              <a:t>Delays</a:t>
            </a:r>
          </a:p>
        </p:txBody>
      </p:sp>
    </p:spTree>
    <p:extLst>
      <p:ext uri="{BB962C8B-B14F-4D97-AF65-F5344CB8AC3E}">
        <p14:creationId xmlns:p14="http://schemas.microsoft.com/office/powerpoint/2010/main" val="39525709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3F1F2159-BA4F-C907-6EDA-91D97911B73B}"/>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0AB87921-FD39-69C2-26B6-688B4FEBA559}"/>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96742C21-34EE-B9F8-E248-EDA6C6FCBC1A}"/>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8">
            <a:extLst>
              <a:ext uri="{FF2B5EF4-FFF2-40B4-BE49-F238E27FC236}">
                <a16:creationId xmlns:a16="http://schemas.microsoft.com/office/drawing/2014/main" id="{8A789F5A-8751-B199-AC9D-A351A5D2C1EF}"/>
              </a:ext>
            </a:extLst>
          </p:cNvPr>
          <p:cNvSpPr/>
          <p:nvPr/>
        </p:nvSpPr>
        <p:spPr>
          <a:xfrm rot="15316670" flipV="1">
            <a:off x="7225636" y="9785329"/>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3" name="Freeform 9">
            <a:extLst>
              <a:ext uri="{FF2B5EF4-FFF2-40B4-BE49-F238E27FC236}">
                <a16:creationId xmlns:a16="http://schemas.microsoft.com/office/drawing/2014/main" id="{CE8478A6-4F24-F5BC-8087-E09715C8AD2E}"/>
              </a:ext>
            </a:extLst>
          </p:cNvPr>
          <p:cNvSpPr/>
          <p:nvPr/>
        </p:nvSpPr>
        <p:spPr>
          <a:xfrm rot="16921343">
            <a:off x="7920418" y="9361821"/>
            <a:ext cx="2465127" cy="2150824"/>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2" name="TextBox 1">
            <a:extLst>
              <a:ext uri="{FF2B5EF4-FFF2-40B4-BE49-F238E27FC236}">
                <a16:creationId xmlns:a16="http://schemas.microsoft.com/office/drawing/2014/main" id="{4C0CE5E9-9B07-C566-4100-4D9435265F5E}"/>
              </a:ext>
            </a:extLst>
          </p:cNvPr>
          <p:cNvSpPr txBox="1"/>
          <p:nvPr/>
        </p:nvSpPr>
        <p:spPr>
          <a:xfrm>
            <a:off x="1295400" y="972023"/>
            <a:ext cx="8305800" cy="707886"/>
          </a:xfrm>
          <a:prstGeom prst="rect">
            <a:avLst/>
          </a:prstGeom>
          <a:noFill/>
        </p:spPr>
        <p:txBody>
          <a:bodyPr wrap="square" rtlCol="0">
            <a:spAutoFit/>
          </a:bodyPr>
          <a:lstStyle/>
          <a:p>
            <a:r>
              <a:rPr lang="en-US" sz="4000" b="1" dirty="0">
                <a:solidFill>
                  <a:schemeClr val="bg1"/>
                </a:solidFill>
              </a:rPr>
              <a:t>Heatmap of Feature Correlations</a:t>
            </a:r>
          </a:p>
        </p:txBody>
      </p:sp>
      <p:pic>
        <p:nvPicPr>
          <p:cNvPr id="5" name="Picture 4">
            <a:extLst>
              <a:ext uri="{FF2B5EF4-FFF2-40B4-BE49-F238E27FC236}">
                <a16:creationId xmlns:a16="http://schemas.microsoft.com/office/drawing/2014/main" id="{5D6EEFEB-00BF-0773-C7C6-A5C123AA8C14}"/>
              </a:ext>
            </a:extLst>
          </p:cNvPr>
          <p:cNvPicPr>
            <a:picLocks noChangeAspect="1"/>
          </p:cNvPicPr>
          <p:nvPr/>
        </p:nvPicPr>
        <p:blipFill>
          <a:blip r:embed="rId6"/>
          <a:stretch>
            <a:fillRect/>
          </a:stretch>
        </p:blipFill>
        <p:spPr>
          <a:xfrm>
            <a:off x="465535" y="2400300"/>
            <a:ext cx="8526065" cy="6344535"/>
          </a:xfrm>
          <a:prstGeom prst="rect">
            <a:avLst/>
          </a:prstGeom>
        </p:spPr>
      </p:pic>
      <p:pic>
        <p:nvPicPr>
          <p:cNvPr id="10" name="Picture 9">
            <a:extLst>
              <a:ext uri="{FF2B5EF4-FFF2-40B4-BE49-F238E27FC236}">
                <a16:creationId xmlns:a16="http://schemas.microsoft.com/office/drawing/2014/main" id="{8CCCE175-4893-76BA-DCB2-8F0D46997E73}"/>
              </a:ext>
            </a:extLst>
          </p:cNvPr>
          <p:cNvPicPr>
            <a:picLocks noChangeAspect="1"/>
          </p:cNvPicPr>
          <p:nvPr/>
        </p:nvPicPr>
        <p:blipFill>
          <a:blip r:embed="rId7"/>
          <a:stretch>
            <a:fillRect/>
          </a:stretch>
        </p:blipFill>
        <p:spPr>
          <a:xfrm>
            <a:off x="9330521" y="2383489"/>
            <a:ext cx="8478433" cy="6361346"/>
          </a:xfrm>
          <a:prstGeom prst="rect">
            <a:avLst/>
          </a:prstGeom>
        </p:spPr>
      </p:pic>
      <p:sp>
        <p:nvSpPr>
          <p:cNvPr id="11" name="TextBox 10">
            <a:extLst>
              <a:ext uri="{FF2B5EF4-FFF2-40B4-BE49-F238E27FC236}">
                <a16:creationId xmlns:a16="http://schemas.microsoft.com/office/drawing/2014/main" id="{771ACEE0-19A7-287F-882D-EA2FA6001596}"/>
              </a:ext>
            </a:extLst>
          </p:cNvPr>
          <p:cNvSpPr txBox="1"/>
          <p:nvPr/>
        </p:nvSpPr>
        <p:spPr>
          <a:xfrm>
            <a:off x="11233296" y="976329"/>
            <a:ext cx="5105400" cy="707886"/>
          </a:xfrm>
          <a:prstGeom prst="rect">
            <a:avLst/>
          </a:prstGeom>
          <a:noFill/>
        </p:spPr>
        <p:txBody>
          <a:bodyPr wrap="square" rtlCol="0">
            <a:spAutoFit/>
          </a:bodyPr>
          <a:lstStyle/>
          <a:p>
            <a:r>
              <a:rPr lang="en-US" sz="4000" b="1" dirty="0">
                <a:solidFill>
                  <a:schemeClr val="bg1"/>
                </a:solidFill>
              </a:rPr>
              <a:t>Delay Rate Distribution</a:t>
            </a:r>
          </a:p>
        </p:txBody>
      </p:sp>
    </p:spTree>
    <p:extLst>
      <p:ext uri="{BB962C8B-B14F-4D97-AF65-F5344CB8AC3E}">
        <p14:creationId xmlns:p14="http://schemas.microsoft.com/office/powerpoint/2010/main" val="14605909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BA5660CD-F535-BF7D-DCB6-49F1609A69A3}"/>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68132F5-1977-BE2F-6318-38D971936590}"/>
              </a:ext>
            </a:extLst>
          </p:cNvPr>
          <p:cNvGrpSpPr/>
          <p:nvPr/>
        </p:nvGrpSpPr>
        <p:grpSpPr>
          <a:xfrm>
            <a:off x="1027320" y="266700"/>
            <a:ext cx="6515100" cy="2650685"/>
            <a:chOff x="0" y="0"/>
            <a:chExt cx="1628282" cy="568079"/>
          </a:xfrm>
        </p:grpSpPr>
        <p:sp>
          <p:nvSpPr>
            <p:cNvPr id="3" name="Freeform 3">
              <a:extLst>
                <a:ext uri="{FF2B5EF4-FFF2-40B4-BE49-F238E27FC236}">
                  <a16:creationId xmlns:a16="http://schemas.microsoft.com/office/drawing/2014/main" id="{63C40EBE-7357-B4E9-CFA7-FCE8925CED05}"/>
                </a:ext>
              </a:extLst>
            </p:cNvPr>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a:extLst>
                <a:ext uri="{FF2B5EF4-FFF2-40B4-BE49-F238E27FC236}">
                  <a16:creationId xmlns:a16="http://schemas.microsoft.com/office/drawing/2014/main" id="{AF0526E0-9036-53EA-7A90-E5FA4B59E4CC}"/>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7C6C704D-4771-5533-6052-754BD600C63C}"/>
              </a:ext>
            </a:extLst>
          </p:cNvPr>
          <p:cNvGrpSpPr/>
          <p:nvPr/>
        </p:nvGrpSpPr>
        <p:grpSpPr>
          <a:xfrm>
            <a:off x="1317093" y="469105"/>
            <a:ext cx="5908259" cy="2245873"/>
            <a:chOff x="0" y="0"/>
            <a:chExt cx="1492217" cy="481322"/>
          </a:xfrm>
        </p:grpSpPr>
        <p:sp>
          <p:nvSpPr>
            <p:cNvPr id="6" name="Freeform 6">
              <a:extLst>
                <a:ext uri="{FF2B5EF4-FFF2-40B4-BE49-F238E27FC236}">
                  <a16:creationId xmlns:a16="http://schemas.microsoft.com/office/drawing/2014/main" id="{E79C20FB-2E5E-5A37-F905-7206680E1A66}"/>
                </a:ext>
              </a:extLst>
            </p:cNvPr>
            <p:cNvSpPr/>
            <p:nvPr/>
          </p:nvSpPr>
          <p:spPr>
            <a:xfrm>
              <a:off x="0" y="0"/>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a:p>
          </p:txBody>
        </p:sp>
        <p:sp>
          <p:nvSpPr>
            <p:cNvPr id="7" name="TextBox 7">
              <a:extLst>
                <a:ext uri="{FF2B5EF4-FFF2-40B4-BE49-F238E27FC236}">
                  <a16:creationId xmlns:a16="http://schemas.microsoft.com/office/drawing/2014/main" id="{55BBF943-7BD4-4408-B8E2-08EBC80E076D}"/>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F7B40D7D-6021-DAA3-F527-B1804BD2DA21}"/>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C8916EE0-8864-F6DB-351C-1F04F67808BE}"/>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F723CA54-9BBD-B8DB-FA48-9A08420A15FE}"/>
              </a:ext>
            </a:extLst>
          </p:cNvPr>
          <p:cNvSpPr txBox="1"/>
          <p:nvPr/>
        </p:nvSpPr>
        <p:spPr>
          <a:xfrm>
            <a:off x="1292071" y="627344"/>
            <a:ext cx="5908259" cy="1883208"/>
          </a:xfrm>
          <a:prstGeom prst="rect">
            <a:avLst/>
          </a:prstGeom>
        </p:spPr>
        <p:txBody>
          <a:bodyPr wrap="square" lIns="0" tIns="0" rIns="0" bIns="0" rtlCol="0" anchor="t">
            <a:spAutoFit/>
          </a:bodyPr>
          <a:lstStyle/>
          <a:p>
            <a:pPr algn="ctr">
              <a:lnSpc>
                <a:spcPts val="7493"/>
              </a:lnSpc>
            </a:pPr>
            <a:r>
              <a:rPr lang="en-US" sz="6043" dirty="0">
                <a:solidFill>
                  <a:srgbClr val="000000"/>
                </a:solidFill>
                <a:latin typeface="Open Sans Extra Bold"/>
              </a:rPr>
              <a:t>DATA </a:t>
            </a:r>
          </a:p>
          <a:p>
            <a:pPr algn="ctr">
              <a:lnSpc>
                <a:spcPts val="7493"/>
              </a:lnSpc>
            </a:pPr>
            <a:r>
              <a:rPr lang="en-US" sz="6043" dirty="0">
                <a:solidFill>
                  <a:srgbClr val="000000"/>
                </a:solidFill>
                <a:latin typeface="Open Sans Extra Bold"/>
              </a:rPr>
              <a:t>Modelling</a:t>
            </a:r>
          </a:p>
        </p:txBody>
      </p:sp>
      <p:sp>
        <p:nvSpPr>
          <p:cNvPr id="12" name="Freeform 8">
            <a:extLst>
              <a:ext uri="{FF2B5EF4-FFF2-40B4-BE49-F238E27FC236}">
                <a16:creationId xmlns:a16="http://schemas.microsoft.com/office/drawing/2014/main" id="{AFA00F46-CDEA-EA65-6F59-B917FBA39A9F}"/>
              </a:ext>
            </a:extLst>
          </p:cNvPr>
          <p:cNvSpPr/>
          <p:nvPr/>
        </p:nvSpPr>
        <p:spPr>
          <a:xfrm rot="15316670" flipH="1">
            <a:off x="16585534" y="-256173"/>
            <a:ext cx="1898767" cy="2042939"/>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3" name="Freeform 9">
            <a:extLst>
              <a:ext uri="{FF2B5EF4-FFF2-40B4-BE49-F238E27FC236}">
                <a16:creationId xmlns:a16="http://schemas.microsoft.com/office/drawing/2014/main" id="{5E8655E7-952E-D019-2FFF-1255261ABE54}"/>
              </a:ext>
            </a:extLst>
          </p:cNvPr>
          <p:cNvSpPr/>
          <p:nvPr/>
        </p:nvSpPr>
        <p:spPr>
          <a:xfrm rot="16921343" flipH="1" flipV="1">
            <a:off x="15305398" y="-37074"/>
            <a:ext cx="2605272" cy="2781432"/>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1" name="TextBox 10">
            <a:extLst>
              <a:ext uri="{FF2B5EF4-FFF2-40B4-BE49-F238E27FC236}">
                <a16:creationId xmlns:a16="http://schemas.microsoft.com/office/drawing/2014/main" id="{138F1D16-F9BF-E535-D4C4-198B1298C0AA}"/>
              </a:ext>
            </a:extLst>
          </p:cNvPr>
          <p:cNvSpPr txBox="1"/>
          <p:nvPr/>
        </p:nvSpPr>
        <p:spPr>
          <a:xfrm>
            <a:off x="1626155" y="4099052"/>
            <a:ext cx="16255863" cy="4062651"/>
          </a:xfrm>
          <a:prstGeom prst="rect">
            <a:avLst/>
          </a:prstGeom>
          <a:noFill/>
        </p:spPr>
        <p:txBody>
          <a:bodyPr wrap="square" rtlCol="0">
            <a:spAutoFit/>
          </a:bodyPr>
          <a:lstStyle/>
          <a:p>
            <a:pPr marL="285750" indent="-285750">
              <a:buFont typeface="Arial" panose="020B0604020202020204" pitchFamily="34" charset="0"/>
              <a:buChar char="•"/>
            </a:pPr>
            <a:r>
              <a:rPr lang="en-US" sz="4000" b="1" dirty="0">
                <a:solidFill>
                  <a:schemeClr val="bg1"/>
                </a:solidFill>
              </a:rPr>
              <a:t>Linear Regression : </a:t>
            </a:r>
            <a:r>
              <a:rPr lang="en-US" sz="4000" dirty="0">
                <a:solidFill>
                  <a:schemeClr val="bg1"/>
                </a:solidFill>
              </a:rPr>
              <a:t>Baseline; cannot model nonlinear delays</a:t>
            </a:r>
          </a:p>
          <a:p>
            <a:pPr marL="285750" indent="-285750">
              <a:buFont typeface="Arial" panose="020B0604020202020204" pitchFamily="34" charset="0"/>
              <a:buChar char="•"/>
            </a:pPr>
            <a:r>
              <a:rPr lang="en-US" sz="4000" b="1" dirty="0">
                <a:solidFill>
                  <a:schemeClr val="bg1"/>
                </a:solidFill>
              </a:rPr>
              <a:t>Random Forest : </a:t>
            </a:r>
            <a:r>
              <a:rPr lang="en-US" sz="4000" dirty="0">
                <a:solidFill>
                  <a:schemeClr val="bg1"/>
                </a:solidFill>
              </a:rPr>
              <a:t>Better accuracy, slow training. Doesn’t handle high-dimensional sparse one-hot data efficiently</a:t>
            </a:r>
          </a:p>
          <a:p>
            <a:pPr marL="285750" indent="-285750">
              <a:buFont typeface="Arial" panose="020B0604020202020204" pitchFamily="34" charset="0"/>
              <a:buChar char="•"/>
            </a:pPr>
            <a:r>
              <a:rPr lang="en-US" sz="4000" b="1" dirty="0">
                <a:solidFill>
                  <a:schemeClr val="bg1"/>
                </a:solidFill>
              </a:rPr>
              <a:t>XG Boost Regressor : </a:t>
            </a:r>
            <a:r>
              <a:rPr lang="en-US" sz="4000" dirty="0">
                <a:solidFill>
                  <a:schemeClr val="bg1"/>
                </a:solidFill>
              </a:rPr>
              <a:t>Best among baseline models</a:t>
            </a:r>
          </a:p>
          <a:p>
            <a:pPr marL="285750" indent="-285750">
              <a:buFont typeface="Arial" panose="020B0604020202020204" pitchFamily="34" charset="0"/>
              <a:buChar char="•"/>
            </a:pPr>
            <a:r>
              <a:rPr lang="en-US" sz="4000" b="1" dirty="0" err="1">
                <a:solidFill>
                  <a:schemeClr val="bg1"/>
                </a:solidFill>
              </a:rPr>
              <a:t>LightGBM</a:t>
            </a:r>
            <a:r>
              <a:rPr lang="en-US" sz="4000" b="1" dirty="0">
                <a:solidFill>
                  <a:schemeClr val="bg1"/>
                </a:solidFill>
              </a:rPr>
              <a:t> : </a:t>
            </a:r>
            <a:r>
              <a:rPr lang="en-US" sz="4000" dirty="0">
                <a:solidFill>
                  <a:schemeClr val="bg1"/>
                </a:solidFill>
              </a:rPr>
              <a:t>needs label encoding for categorical variables</a:t>
            </a:r>
          </a:p>
          <a:p>
            <a:pPr marL="285750" indent="-285750">
              <a:buFont typeface="Arial" panose="020B0604020202020204" pitchFamily="34" charset="0"/>
              <a:buChar char="•"/>
            </a:pPr>
            <a:r>
              <a:rPr lang="en-US" sz="4000" b="1" dirty="0" err="1">
                <a:solidFill>
                  <a:schemeClr val="bg1"/>
                </a:solidFill>
              </a:rPr>
              <a:t>CatBoost</a:t>
            </a:r>
            <a:r>
              <a:rPr lang="en-US" sz="4000" b="1" dirty="0">
                <a:solidFill>
                  <a:schemeClr val="bg1"/>
                </a:solidFill>
              </a:rPr>
              <a:t> : </a:t>
            </a:r>
            <a:r>
              <a:rPr lang="en-US" sz="4000" dirty="0">
                <a:solidFill>
                  <a:schemeClr val="bg1"/>
                </a:solidFill>
              </a:rPr>
              <a:t>No one-hot encoding needed </a:t>
            </a:r>
          </a:p>
          <a:p>
            <a:pPr marL="285750" indent="-285750">
              <a:buFont typeface="Arial" panose="020B0604020202020204" pitchFamily="34" charset="0"/>
              <a:buChar char="•"/>
            </a:pPr>
            <a:endParaRPr lang="en-US" dirty="0">
              <a:solidFill>
                <a:schemeClr val="bg1"/>
              </a:solidFill>
            </a:endParaRPr>
          </a:p>
        </p:txBody>
      </p:sp>
    </p:spTree>
    <p:extLst>
      <p:ext uri="{BB962C8B-B14F-4D97-AF65-F5344CB8AC3E}">
        <p14:creationId xmlns:p14="http://schemas.microsoft.com/office/powerpoint/2010/main" val="26350054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2957929" y="187686"/>
            <a:ext cx="12001500" cy="2650685"/>
            <a:chOff x="0" y="0"/>
            <a:chExt cx="1628282" cy="568079"/>
          </a:xfrm>
        </p:grpSpPr>
        <p:sp>
          <p:nvSpPr>
            <p:cNvPr id="3" name="Freeform 3"/>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2341205" y="257269"/>
            <a:ext cx="12304916" cy="3970343"/>
            <a:chOff x="0" y="-38100"/>
            <a:chExt cx="1611422" cy="850900"/>
          </a:xfrm>
        </p:grpSpPr>
        <p:sp>
          <p:nvSpPr>
            <p:cNvPr id="6" name="Freeform 6"/>
            <p:cNvSpPr/>
            <p:nvPr/>
          </p:nvSpPr>
          <p:spPr>
            <a:xfrm>
              <a:off x="119205" y="-2320"/>
              <a:ext cx="1492217" cy="481322"/>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p:cNvSpPr txBox="1"/>
          <p:nvPr/>
        </p:nvSpPr>
        <p:spPr>
          <a:xfrm>
            <a:off x="3251462" y="671135"/>
            <a:ext cx="11394659" cy="1883208"/>
          </a:xfrm>
          <a:prstGeom prst="rect">
            <a:avLst/>
          </a:prstGeom>
        </p:spPr>
        <p:txBody>
          <a:bodyPr wrap="square" lIns="0" tIns="0" rIns="0" bIns="0" rtlCol="0" anchor="t">
            <a:spAutoFit/>
          </a:bodyPr>
          <a:lstStyle/>
          <a:p>
            <a:pPr algn="ctr">
              <a:lnSpc>
                <a:spcPts val="7493"/>
              </a:lnSpc>
            </a:pPr>
            <a:r>
              <a:rPr lang="en-US" sz="6043" dirty="0">
                <a:solidFill>
                  <a:srgbClr val="000000"/>
                </a:solidFill>
                <a:latin typeface="Open Sans Extra Bold"/>
              </a:rPr>
              <a:t>MODEL COMPARISION/ METRICS</a:t>
            </a:r>
          </a:p>
        </p:txBody>
      </p:sp>
      <p:sp>
        <p:nvSpPr>
          <p:cNvPr id="13" name="Freeform 8">
            <a:extLst>
              <a:ext uri="{FF2B5EF4-FFF2-40B4-BE49-F238E27FC236}">
                <a16:creationId xmlns:a16="http://schemas.microsoft.com/office/drawing/2014/main" id="{F7B6975F-4A62-D4A6-733A-1A67B7901D71}"/>
              </a:ext>
            </a:extLst>
          </p:cNvPr>
          <p:cNvSpPr/>
          <p:nvPr/>
        </p:nvSpPr>
        <p:spPr>
          <a:xfrm rot="15316670" flipV="1">
            <a:off x="12530180" y="276486"/>
            <a:ext cx="2465127" cy="2150824"/>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4" name="Freeform 9">
            <a:extLst>
              <a:ext uri="{FF2B5EF4-FFF2-40B4-BE49-F238E27FC236}">
                <a16:creationId xmlns:a16="http://schemas.microsoft.com/office/drawing/2014/main" id="{C11F695C-8DC4-8CBC-75B1-7BB3CCEA0217}"/>
              </a:ext>
            </a:extLst>
          </p:cNvPr>
          <p:cNvSpPr/>
          <p:nvPr/>
        </p:nvSpPr>
        <p:spPr>
          <a:xfrm rot="16921343">
            <a:off x="3033926" y="353719"/>
            <a:ext cx="2465127" cy="2150824"/>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graphicFrame>
        <p:nvGraphicFramePr>
          <p:cNvPr id="15" name="Table 14">
            <a:extLst>
              <a:ext uri="{FF2B5EF4-FFF2-40B4-BE49-F238E27FC236}">
                <a16:creationId xmlns:a16="http://schemas.microsoft.com/office/drawing/2014/main" id="{D8BF3C85-C53F-74AD-E1FD-BFAACE780AAF}"/>
              </a:ext>
            </a:extLst>
          </p:cNvPr>
          <p:cNvGraphicFramePr>
            <a:graphicFrameLocks noGrp="1"/>
          </p:cNvGraphicFramePr>
          <p:nvPr>
            <p:extLst>
              <p:ext uri="{D42A27DB-BD31-4B8C-83A1-F6EECF244321}">
                <p14:modId xmlns:p14="http://schemas.microsoft.com/office/powerpoint/2010/main" val="1060931017"/>
              </p:ext>
            </p:extLst>
          </p:nvPr>
        </p:nvGraphicFramePr>
        <p:xfrm>
          <a:off x="1600200" y="3209646"/>
          <a:ext cx="14859000" cy="5972454"/>
        </p:xfrm>
        <a:graphic>
          <a:graphicData uri="http://schemas.openxmlformats.org/drawingml/2006/table">
            <a:tbl>
              <a:tblPr firstRow="1" bandRow="1">
                <a:tableStyleId>{5C22544A-7EE6-4342-B048-85BDC9FD1C3A}</a:tableStyleId>
              </a:tblPr>
              <a:tblGrid>
                <a:gridCol w="2819400">
                  <a:extLst>
                    <a:ext uri="{9D8B030D-6E8A-4147-A177-3AD203B41FA5}">
                      <a16:colId xmlns:a16="http://schemas.microsoft.com/office/drawing/2014/main" val="304007033"/>
                    </a:ext>
                  </a:extLst>
                </a:gridCol>
                <a:gridCol w="1752600">
                  <a:extLst>
                    <a:ext uri="{9D8B030D-6E8A-4147-A177-3AD203B41FA5}">
                      <a16:colId xmlns:a16="http://schemas.microsoft.com/office/drawing/2014/main" val="2296750929"/>
                    </a:ext>
                  </a:extLst>
                </a:gridCol>
                <a:gridCol w="1752600">
                  <a:extLst>
                    <a:ext uri="{9D8B030D-6E8A-4147-A177-3AD203B41FA5}">
                      <a16:colId xmlns:a16="http://schemas.microsoft.com/office/drawing/2014/main" val="3899532393"/>
                    </a:ext>
                  </a:extLst>
                </a:gridCol>
                <a:gridCol w="1828800">
                  <a:extLst>
                    <a:ext uri="{9D8B030D-6E8A-4147-A177-3AD203B41FA5}">
                      <a16:colId xmlns:a16="http://schemas.microsoft.com/office/drawing/2014/main" val="3048703501"/>
                    </a:ext>
                  </a:extLst>
                </a:gridCol>
                <a:gridCol w="6705600">
                  <a:extLst>
                    <a:ext uri="{9D8B030D-6E8A-4147-A177-3AD203B41FA5}">
                      <a16:colId xmlns:a16="http://schemas.microsoft.com/office/drawing/2014/main" val="2398427394"/>
                    </a:ext>
                  </a:extLst>
                </a:gridCol>
              </a:tblGrid>
              <a:tr h="833696">
                <a:tc>
                  <a:txBody>
                    <a:bodyPr/>
                    <a:lstStyle/>
                    <a:p>
                      <a:r>
                        <a:rPr sz="2400" dirty="0"/>
                        <a:t>Model</a:t>
                      </a:r>
                    </a:p>
                  </a:txBody>
                  <a:tcPr/>
                </a:tc>
                <a:tc>
                  <a:txBody>
                    <a:bodyPr/>
                    <a:lstStyle/>
                    <a:p>
                      <a:r>
                        <a:rPr sz="2400" dirty="0"/>
                        <a:t>RMSE</a:t>
                      </a:r>
                    </a:p>
                  </a:txBody>
                  <a:tcPr/>
                </a:tc>
                <a:tc>
                  <a:txBody>
                    <a:bodyPr/>
                    <a:lstStyle/>
                    <a:p>
                      <a:r>
                        <a:rPr sz="2400"/>
                        <a:t>MAE</a:t>
                      </a:r>
                    </a:p>
                  </a:txBody>
                  <a:tcPr/>
                </a:tc>
                <a:tc>
                  <a:txBody>
                    <a:bodyPr/>
                    <a:lstStyle/>
                    <a:p>
                      <a:r>
                        <a:rPr sz="2400"/>
                        <a:t>R²</a:t>
                      </a:r>
                    </a:p>
                  </a:txBody>
                  <a:tcPr/>
                </a:tc>
                <a:tc>
                  <a:txBody>
                    <a:bodyPr/>
                    <a:lstStyle/>
                    <a:p>
                      <a:r>
                        <a:rPr lang="en-US" sz="2400" dirty="0"/>
                        <a:t>Interpretation</a:t>
                      </a:r>
                    </a:p>
                  </a:txBody>
                  <a:tcPr/>
                </a:tc>
                <a:extLst>
                  <a:ext uri="{0D108BD9-81ED-4DB2-BD59-A6C34878D82A}">
                    <a16:rowId xmlns:a16="http://schemas.microsoft.com/office/drawing/2014/main" val="689558424"/>
                  </a:ext>
                </a:extLst>
              </a:tr>
              <a:tr h="1157122">
                <a:tc>
                  <a:txBody>
                    <a:bodyPr/>
                    <a:lstStyle/>
                    <a:p>
                      <a:r>
                        <a:rPr sz="2400" dirty="0"/>
                        <a:t>Linear</a:t>
                      </a:r>
                      <a:r>
                        <a:rPr lang="en-US" sz="2400" dirty="0"/>
                        <a:t> </a:t>
                      </a:r>
                      <a:r>
                        <a:rPr sz="2400" dirty="0"/>
                        <a:t>Regression</a:t>
                      </a:r>
                    </a:p>
                  </a:txBody>
                  <a:tcPr/>
                </a:tc>
                <a:tc>
                  <a:txBody>
                    <a:bodyPr/>
                    <a:lstStyle/>
                    <a:p>
                      <a:r>
                        <a:rPr sz="2400"/>
                        <a:t>1517.37</a:t>
                      </a:r>
                    </a:p>
                  </a:txBody>
                  <a:tcPr/>
                </a:tc>
                <a:tc>
                  <a:txBody>
                    <a:bodyPr/>
                    <a:lstStyle/>
                    <a:p>
                      <a:r>
                        <a:rPr sz="2400"/>
                        <a:t>752.98</a:t>
                      </a:r>
                    </a:p>
                  </a:txBody>
                  <a:tcPr/>
                </a:tc>
                <a:tc>
                  <a:txBody>
                    <a:bodyPr/>
                    <a:lstStyle/>
                    <a:p>
                      <a:r>
                        <a:rPr sz="2400"/>
                        <a:t>0.9691</a:t>
                      </a:r>
                    </a:p>
                  </a:txBody>
                  <a:tcPr/>
                </a:tc>
                <a:tc>
                  <a:txBody>
                    <a:bodyPr/>
                    <a:lstStyle/>
                    <a:p>
                      <a:r>
                        <a:rPr lang="en-US" sz="2400" dirty="0"/>
                        <a:t>Weak model. Cannot capture non-linear interactions (weather, traffic volumes, etc.).</a:t>
                      </a:r>
                    </a:p>
                  </a:txBody>
                  <a:tcPr/>
                </a:tc>
                <a:extLst>
                  <a:ext uri="{0D108BD9-81ED-4DB2-BD59-A6C34878D82A}">
                    <a16:rowId xmlns:a16="http://schemas.microsoft.com/office/drawing/2014/main" val="2505901045"/>
                  </a:ext>
                </a:extLst>
              </a:tr>
              <a:tr h="1157122">
                <a:tc>
                  <a:txBody>
                    <a:bodyPr/>
                    <a:lstStyle/>
                    <a:p>
                      <a:r>
                        <a:rPr sz="2400" dirty="0"/>
                        <a:t>Random</a:t>
                      </a:r>
                      <a:r>
                        <a:rPr lang="en-US" sz="2400" dirty="0"/>
                        <a:t> </a:t>
                      </a:r>
                      <a:r>
                        <a:rPr sz="2400" dirty="0"/>
                        <a:t>Forest</a:t>
                      </a:r>
                    </a:p>
                  </a:txBody>
                  <a:tcPr/>
                </a:tc>
                <a:tc>
                  <a:txBody>
                    <a:bodyPr/>
                    <a:lstStyle/>
                    <a:p>
                      <a:r>
                        <a:rPr sz="2400"/>
                        <a:t>1105.19</a:t>
                      </a:r>
                    </a:p>
                  </a:txBody>
                  <a:tcPr/>
                </a:tc>
                <a:tc>
                  <a:txBody>
                    <a:bodyPr/>
                    <a:lstStyle/>
                    <a:p>
                      <a:r>
                        <a:rPr sz="2400"/>
                        <a:t>474.29</a:t>
                      </a:r>
                    </a:p>
                  </a:txBody>
                  <a:tcPr/>
                </a:tc>
                <a:tc>
                  <a:txBody>
                    <a:bodyPr/>
                    <a:lstStyle/>
                    <a:p>
                      <a:r>
                        <a:rPr sz="2400" dirty="0"/>
                        <a:t>0.9836</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2400" dirty="0"/>
                        <a:t>Captures non-linearity but not optimal. Struggles when data dimension is high (450+ features). </a:t>
                      </a:r>
                      <a:endParaRPr lang="en-US" sz="2400" dirty="0">
                        <a:solidFill>
                          <a:schemeClr val="bg1"/>
                        </a:solidFill>
                      </a:endParaRPr>
                    </a:p>
                  </a:txBody>
                  <a:tcPr/>
                </a:tc>
                <a:extLst>
                  <a:ext uri="{0D108BD9-81ED-4DB2-BD59-A6C34878D82A}">
                    <a16:rowId xmlns:a16="http://schemas.microsoft.com/office/drawing/2014/main" val="3294881718"/>
                  </a:ext>
                </a:extLst>
              </a:tr>
              <a:tr h="833696">
                <a:tc>
                  <a:txBody>
                    <a:bodyPr/>
                    <a:lstStyle/>
                    <a:p>
                      <a:r>
                        <a:rPr sz="2400" dirty="0" err="1"/>
                        <a:t>XGBoost</a:t>
                      </a:r>
                      <a:endParaRPr sz="2400" dirty="0"/>
                    </a:p>
                  </a:txBody>
                  <a:tcPr/>
                </a:tc>
                <a:tc>
                  <a:txBody>
                    <a:bodyPr/>
                    <a:lstStyle/>
                    <a:p>
                      <a:r>
                        <a:rPr sz="2400" dirty="0"/>
                        <a:t>872.68</a:t>
                      </a:r>
                    </a:p>
                  </a:txBody>
                  <a:tcPr/>
                </a:tc>
                <a:tc>
                  <a:txBody>
                    <a:bodyPr/>
                    <a:lstStyle/>
                    <a:p>
                      <a:r>
                        <a:rPr sz="2400"/>
                        <a:t>396.13</a:t>
                      </a:r>
                    </a:p>
                  </a:txBody>
                  <a:tcPr/>
                </a:tc>
                <a:tc>
                  <a:txBody>
                    <a:bodyPr/>
                    <a:lstStyle/>
                    <a:p>
                      <a:r>
                        <a:rPr sz="2400"/>
                        <a:t>0.9898</a:t>
                      </a:r>
                    </a:p>
                  </a:txBody>
                  <a:tcPr/>
                </a:tc>
                <a:tc>
                  <a:txBody>
                    <a:bodyPr/>
                    <a:lstStyle/>
                    <a:p>
                      <a:r>
                        <a:rPr lang="en-US" sz="2400" dirty="0"/>
                        <a:t>Learns non-linear effects and interactions very well</a:t>
                      </a:r>
                    </a:p>
                  </a:txBody>
                  <a:tcPr/>
                </a:tc>
                <a:extLst>
                  <a:ext uri="{0D108BD9-81ED-4DB2-BD59-A6C34878D82A}">
                    <a16:rowId xmlns:a16="http://schemas.microsoft.com/office/drawing/2014/main" val="3067339775"/>
                  </a:ext>
                </a:extLst>
              </a:tr>
              <a:tr h="833696">
                <a:tc>
                  <a:txBody>
                    <a:bodyPr/>
                    <a:lstStyle/>
                    <a:p>
                      <a:r>
                        <a:rPr sz="2400" dirty="0" err="1"/>
                        <a:t>LightGBM</a:t>
                      </a:r>
                      <a:endParaRPr sz="2400" dirty="0"/>
                    </a:p>
                  </a:txBody>
                  <a:tcPr/>
                </a:tc>
                <a:tc>
                  <a:txBody>
                    <a:bodyPr/>
                    <a:lstStyle/>
                    <a:p>
                      <a:r>
                        <a:rPr sz="2400"/>
                        <a:t>880.38</a:t>
                      </a:r>
                    </a:p>
                  </a:txBody>
                  <a:tcPr/>
                </a:tc>
                <a:tc>
                  <a:txBody>
                    <a:bodyPr/>
                    <a:lstStyle/>
                    <a:p>
                      <a:r>
                        <a:rPr sz="2400"/>
                        <a:t>408.24</a:t>
                      </a:r>
                    </a:p>
                  </a:txBody>
                  <a:tcPr/>
                </a:tc>
                <a:tc>
                  <a:txBody>
                    <a:bodyPr/>
                    <a:lstStyle/>
                    <a:p>
                      <a:r>
                        <a:rPr sz="2400"/>
                        <a:t>0.9896</a:t>
                      </a:r>
                    </a:p>
                  </a:txBody>
                  <a:tcPr/>
                </a:tc>
                <a:tc>
                  <a:txBody>
                    <a:bodyPr/>
                    <a:lstStyle/>
                    <a:p>
                      <a:r>
                        <a:rPr lang="en-US" sz="2400" dirty="0"/>
                        <a:t>Performs close to </a:t>
                      </a:r>
                      <a:r>
                        <a:rPr lang="en-US" sz="2400" dirty="0" err="1"/>
                        <a:t>XGBoost</a:t>
                      </a:r>
                      <a:r>
                        <a:rPr lang="en-US" sz="2400" dirty="0"/>
                        <a:t>; faster training</a:t>
                      </a:r>
                    </a:p>
                  </a:txBody>
                  <a:tcPr/>
                </a:tc>
                <a:extLst>
                  <a:ext uri="{0D108BD9-81ED-4DB2-BD59-A6C34878D82A}">
                    <a16:rowId xmlns:a16="http://schemas.microsoft.com/office/drawing/2014/main" val="1864516725"/>
                  </a:ext>
                </a:extLst>
              </a:tr>
              <a:tr h="1157122">
                <a:tc>
                  <a:txBody>
                    <a:bodyPr/>
                    <a:lstStyle/>
                    <a:p>
                      <a:r>
                        <a:rPr sz="2400" b="1" dirty="0" err="1"/>
                        <a:t>CatBoost</a:t>
                      </a:r>
                      <a:endParaRPr sz="2400" b="1" dirty="0"/>
                    </a:p>
                  </a:txBody>
                  <a:tcPr/>
                </a:tc>
                <a:tc>
                  <a:txBody>
                    <a:bodyPr/>
                    <a:lstStyle/>
                    <a:p>
                      <a:r>
                        <a:rPr sz="2400" b="1" dirty="0"/>
                        <a:t>849.28</a:t>
                      </a:r>
                    </a:p>
                  </a:txBody>
                  <a:tcPr/>
                </a:tc>
                <a:tc>
                  <a:txBody>
                    <a:bodyPr/>
                    <a:lstStyle/>
                    <a:p>
                      <a:r>
                        <a:rPr sz="2400" b="1" dirty="0"/>
                        <a:t>390.96</a:t>
                      </a:r>
                    </a:p>
                  </a:txBody>
                  <a:tcPr/>
                </a:tc>
                <a:tc>
                  <a:txBody>
                    <a:bodyPr/>
                    <a:lstStyle/>
                    <a:p>
                      <a:r>
                        <a:rPr sz="2400" b="1" dirty="0"/>
                        <a:t>0.9903</a:t>
                      </a:r>
                    </a:p>
                  </a:txBody>
                  <a:tcPr/>
                </a:tc>
                <a:tc>
                  <a:txBody>
                    <a:bodyPr/>
                    <a:lstStyle/>
                    <a:p>
                      <a:r>
                        <a:rPr lang="en-US" sz="2400" b="1" dirty="0"/>
                        <a:t>Handles categorical variables very well. More stable without extensive tuning</a:t>
                      </a:r>
                    </a:p>
                  </a:txBody>
                  <a:tcPr/>
                </a:tc>
                <a:extLst>
                  <a:ext uri="{0D108BD9-81ED-4DB2-BD59-A6C34878D82A}">
                    <a16:rowId xmlns:a16="http://schemas.microsoft.com/office/drawing/2014/main" val="2714229379"/>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33E36868-7CCB-12B9-D65C-BC002D37EDD3}"/>
            </a:ext>
          </a:extLst>
        </p:cNvPr>
        <p:cNvGrpSpPr/>
        <p:nvPr/>
      </p:nvGrpSpPr>
      <p:grpSpPr>
        <a:xfrm>
          <a:off x="0" y="0"/>
          <a:ext cx="0" cy="0"/>
          <a:chOff x="0" y="0"/>
          <a:chExt cx="0" cy="0"/>
        </a:xfrm>
      </p:grpSpPr>
      <p:sp>
        <p:nvSpPr>
          <p:cNvPr id="8" name="Freeform 8">
            <a:extLst>
              <a:ext uri="{FF2B5EF4-FFF2-40B4-BE49-F238E27FC236}">
                <a16:creationId xmlns:a16="http://schemas.microsoft.com/office/drawing/2014/main" id="{7FB377D6-6BB9-F3ED-CC21-BB609C3DC209}"/>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17B13C1C-5AD9-F3F5-FBF4-ECA06FFB6D87}"/>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8">
            <a:extLst>
              <a:ext uri="{FF2B5EF4-FFF2-40B4-BE49-F238E27FC236}">
                <a16:creationId xmlns:a16="http://schemas.microsoft.com/office/drawing/2014/main" id="{82B168FF-4003-A6D0-B5AC-BB6A50DC3F51}"/>
              </a:ext>
            </a:extLst>
          </p:cNvPr>
          <p:cNvSpPr/>
          <p:nvPr/>
        </p:nvSpPr>
        <p:spPr>
          <a:xfrm rot="15316670">
            <a:off x="393276" y="-262201"/>
            <a:ext cx="1791755" cy="1879882"/>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4" name="Freeform 9">
            <a:extLst>
              <a:ext uri="{FF2B5EF4-FFF2-40B4-BE49-F238E27FC236}">
                <a16:creationId xmlns:a16="http://schemas.microsoft.com/office/drawing/2014/main" id="{1ABC4385-797E-415B-DC5B-E180E212D2C2}"/>
              </a:ext>
            </a:extLst>
          </p:cNvPr>
          <p:cNvSpPr/>
          <p:nvPr/>
        </p:nvSpPr>
        <p:spPr>
          <a:xfrm rot="16921343" flipH="1">
            <a:off x="310074" y="98709"/>
            <a:ext cx="2888500" cy="3030323"/>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1" name="TextBox 10">
            <a:extLst>
              <a:ext uri="{FF2B5EF4-FFF2-40B4-BE49-F238E27FC236}">
                <a16:creationId xmlns:a16="http://schemas.microsoft.com/office/drawing/2014/main" id="{6C8205B2-C5DE-7C31-D766-660845DAAA18}"/>
              </a:ext>
            </a:extLst>
          </p:cNvPr>
          <p:cNvSpPr txBox="1"/>
          <p:nvPr/>
        </p:nvSpPr>
        <p:spPr>
          <a:xfrm>
            <a:off x="1981200" y="1259927"/>
            <a:ext cx="5105400" cy="707886"/>
          </a:xfrm>
          <a:prstGeom prst="rect">
            <a:avLst/>
          </a:prstGeom>
          <a:noFill/>
        </p:spPr>
        <p:txBody>
          <a:bodyPr wrap="square" rtlCol="0">
            <a:spAutoFit/>
          </a:bodyPr>
          <a:lstStyle/>
          <a:p>
            <a:r>
              <a:rPr lang="en-US" sz="4000" b="1" dirty="0">
                <a:solidFill>
                  <a:schemeClr val="bg1"/>
                </a:solidFill>
              </a:rPr>
              <a:t>Error Distribution Plot</a:t>
            </a:r>
          </a:p>
        </p:txBody>
      </p:sp>
      <p:sp>
        <p:nvSpPr>
          <p:cNvPr id="12" name="TextBox 11">
            <a:extLst>
              <a:ext uri="{FF2B5EF4-FFF2-40B4-BE49-F238E27FC236}">
                <a16:creationId xmlns:a16="http://schemas.microsoft.com/office/drawing/2014/main" id="{F81729A2-C738-4880-A718-8209D0DBDCB6}"/>
              </a:ext>
            </a:extLst>
          </p:cNvPr>
          <p:cNvSpPr txBox="1"/>
          <p:nvPr/>
        </p:nvSpPr>
        <p:spPr>
          <a:xfrm>
            <a:off x="11049000" y="1259927"/>
            <a:ext cx="4419600" cy="707886"/>
          </a:xfrm>
          <a:prstGeom prst="rect">
            <a:avLst/>
          </a:prstGeom>
          <a:noFill/>
        </p:spPr>
        <p:txBody>
          <a:bodyPr wrap="square" rtlCol="0">
            <a:spAutoFit/>
          </a:bodyPr>
          <a:lstStyle/>
          <a:p>
            <a:r>
              <a:rPr lang="en-US" sz="4000" b="1" dirty="0">
                <a:solidFill>
                  <a:schemeClr val="bg1"/>
                </a:solidFill>
              </a:rPr>
              <a:t>Actual Vs Predicted</a:t>
            </a:r>
          </a:p>
        </p:txBody>
      </p:sp>
      <p:pic>
        <p:nvPicPr>
          <p:cNvPr id="17" name="Picture 16">
            <a:extLst>
              <a:ext uri="{FF2B5EF4-FFF2-40B4-BE49-F238E27FC236}">
                <a16:creationId xmlns:a16="http://schemas.microsoft.com/office/drawing/2014/main" id="{90265C78-61DE-405E-0BAB-7C31E012638F}"/>
              </a:ext>
            </a:extLst>
          </p:cNvPr>
          <p:cNvPicPr>
            <a:picLocks noChangeAspect="1"/>
          </p:cNvPicPr>
          <p:nvPr/>
        </p:nvPicPr>
        <p:blipFill>
          <a:blip r:embed="rId6"/>
          <a:stretch>
            <a:fillRect/>
          </a:stretch>
        </p:blipFill>
        <p:spPr>
          <a:xfrm>
            <a:off x="609600" y="2705100"/>
            <a:ext cx="8153400" cy="5722168"/>
          </a:xfrm>
          <a:prstGeom prst="rect">
            <a:avLst/>
          </a:prstGeom>
        </p:spPr>
      </p:pic>
      <p:pic>
        <p:nvPicPr>
          <p:cNvPr id="19" name="Picture 18">
            <a:extLst>
              <a:ext uri="{FF2B5EF4-FFF2-40B4-BE49-F238E27FC236}">
                <a16:creationId xmlns:a16="http://schemas.microsoft.com/office/drawing/2014/main" id="{30EF79BE-9145-23DB-B9E5-F148DF9FB372}"/>
              </a:ext>
            </a:extLst>
          </p:cNvPr>
          <p:cNvPicPr>
            <a:picLocks noChangeAspect="1"/>
          </p:cNvPicPr>
          <p:nvPr/>
        </p:nvPicPr>
        <p:blipFill>
          <a:blip r:embed="rId7"/>
          <a:stretch>
            <a:fillRect/>
          </a:stretch>
        </p:blipFill>
        <p:spPr>
          <a:xfrm>
            <a:off x="9372600" y="2705100"/>
            <a:ext cx="8302389" cy="5722168"/>
          </a:xfrm>
          <a:prstGeom prst="rect">
            <a:avLst/>
          </a:prstGeom>
        </p:spPr>
      </p:pic>
    </p:spTree>
    <p:extLst>
      <p:ext uri="{BB962C8B-B14F-4D97-AF65-F5344CB8AC3E}">
        <p14:creationId xmlns:p14="http://schemas.microsoft.com/office/powerpoint/2010/main" val="3962455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p:cNvGrpSpPr/>
        <p:nvPr/>
      </p:nvGrpSpPr>
      <p:grpSpPr>
        <a:xfrm>
          <a:off x="0" y="0"/>
          <a:ext cx="0" cy="0"/>
          <a:chOff x="0" y="0"/>
          <a:chExt cx="0" cy="0"/>
        </a:xfrm>
      </p:grpSpPr>
      <p:grpSp>
        <p:nvGrpSpPr>
          <p:cNvPr id="2" name="Group 2"/>
          <p:cNvGrpSpPr/>
          <p:nvPr/>
        </p:nvGrpSpPr>
        <p:grpSpPr>
          <a:xfrm>
            <a:off x="582803" y="4000475"/>
            <a:ext cx="6182384" cy="1447735"/>
            <a:chOff x="0" y="0"/>
            <a:chExt cx="1628282" cy="381296"/>
          </a:xfrm>
        </p:grpSpPr>
        <p:sp>
          <p:nvSpPr>
            <p:cNvPr id="3" name="Freeform 3"/>
            <p:cNvSpPr/>
            <p:nvPr/>
          </p:nvSpPr>
          <p:spPr>
            <a:xfrm>
              <a:off x="0" y="0"/>
              <a:ext cx="1628282" cy="381296"/>
            </a:xfrm>
            <a:custGeom>
              <a:avLst/>
              <a:gdLst/>
              <a:ahLst/>
              <a:cxnLst/>
              <a:rect l="l" t="t" r="r" b="b"/>
              <a:pathLst>
                <a:path w="1628282" h="381296">
                  <a:moveTo>
                    <a:pt x="0" y="0"/>
                  </a:moveTo>
                  <a:lnTo>
                    <a:pt x="1628282" y="0"/>
                  </a:lnTo>
                  <a:lnTo>
                    <a:pt x="1628282" y="381296"/>
                  </a:lnTo>
                  <a:lnTo>
                    <a:pt x="0" y="381296"/>
                  </a:lnTo>
                  <a:close/>
                </a:path>
              </a:pathLst>
            </a:custGeom>
            <a:solidFill>
              <a:srgbClr val="91BBE6"/>
            </a:solidFill>
          </p:spPr>
          <p:txBody>
            <a:bodyPr/>
            <a:lstStyle/>
            <a:p>
              <a:endParaRPr lang="en-US"/>
            </a:p>
          </p:txBody>
        </p:sp>
        <p:sp>
          <p:nvSpPr>
            <p:cNvPr id="4" name="TextBox 4"/>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877275" y="4181080"/>
            <a:ext cx="5665760" cy="3467861"/>
            <a:chOff x="-352237" y="-100545"/>
            <a:chExt cx="1492217" cy="913345"/>
          </a:xfrm>
        </p:grpSpPr>
        <p:sp>
          <p:nvSpPr>
            <p:cNvPr id="6" name="Freeform 6"/>
            <p:cNvSpPr/>
            <p:nvPr/>
          </p:nvSpPr>
          <p:spPr>
            <a:xfrm>
              <a:off x="-352237" y="-100545"/>
              <a:ext cx="1492217" cy="305863"/>
            </a:xfrm>
            <a:custGeom>
              <a:avLst/>
              <a:gdLst/>
              <a:ahLst/>
              <a:cxnLst/>
              <a:rect l="l" t="t" r="r" b="b"/>
              <a:pathLst>
                <a:path w="1492217" h="305863">
                  <a:moveTo>
                    <a:pt x="0" y="0"/>
                  </a:moveTo>
                  <a:lnTo>
                    <a:pt x="1492217" y="0"/>
                  </a:lnTo>
                  <a:lnTo>
                    <a:pt x="1492217" y="305863"/>
                  </a:lnTo>
                  <a:lnTo>
                    <a:pt x="0" y="305863"/>
                  </a:lnTo>
                  <a:close/>
                </a:path>
              </a:pathLst>
            </a:custGeom>
            <a:solidFill>
              <a:srgbClr val="FFFFFF"/>
            </a:solidFill>
          </p:spPr>
          <p:txBody>
            <a:bodyPr/>
            <a:lstStyle/>
            <a:p>
              <a:endParaRPr lang="en-US" dirty="0"/>
            </a:p>
          </p:txBody>
        </p:sp>
        <p:sp>
          <p:nvSpPr>
            <p:cNvPr id="7" name="TextBox 7"/>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TextBox 9"/>
          <p:cNvSpPr txBox="1"/>
          <p:nvPr/>
        </p:nvSpPr>
        <p:spPr>
          <a:xfrm>
            <a:off x="582803" y="4150689"/>
            <a:ext cx="6182384" cy="1085914"/>
          </a:xfrm>
          <a:prstGeom prst="rect">
            <a:avLst/>
          </a:prstGeom>
        </p:spPr>
        <p:txBody>
          <a:bodyPr lIns="0" tIns="0" rIns="0" bIns="0" rtlCol="0" anchor="t">
            <a:spAutoFit/>
          </a:bodyPr>
          <a:lstStyle/>
          <a:p>
            <a:pPr algn="ctr">
              <a:lnSpc>
                <a:spcPts val="8921"/>
              </a:lnSpc>
            </a:pPr>
            <a:r>
              <a:rPr lang="en-US" sz="6372" dirty="0">
                <a:solidFill>
                  <a:srgbClr val="000000"/>
                </a:solidFill>
                <a:latin typeface="Open Sans Extra Bold"/>
              </a:rPr>
              <a:t>CONCLUSION</a:t>
            </a:r>
          </a:p>
        </p:txBody>
      </p:sp>
      <p:sp>
        <p:nvSpPr>
          <p:cNvPr id="11" name="Freeform 11"/>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2" name="Freeform 12"/>
          <p:cNvSpPr/>
          <p:nvPr/>
        </p:nvSpPr>
        <p:spPr>
          <a:xfrm rot="-7247678" flipV="1">
            <a:off x="-230534" y="854682"/>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3" name="Freeform 13"/>
          <p:cNvSpPr/>
          <p:nvPr/>
        </p:nvSpPr>
        <p:spPr>
          <a:xfrm rot="-7247678" flipV="1">
            <a:off x="-230534" y="-696891"/>
            <a:ext cx="2456297" cy="2014164"/>
          </a:xfrm>
          <a:custGeom>
            <a:avLst/>
            <a:gdLst/>
            <a:ahLst/>
            <a:cxnLst/>
            <a:rect l="l" t="t" r="r" b="b"/>
            <a:pathLst>
              <a:path w="2456297" h="2014164">
                <a:moveTo>
                  <a:pt x="0" y="2014164"/>
                </a:moveTo>
                <a:lnTo>
                  <a:pt x="2456298" y="2014164"/>
                </a:lnTo>
                <a:lnTo>
                  <a:pt x="2456298" y="0"/>
                </a:lnTo>
                <a:lnTo>
                  <a:pt x="0" y="0"/>
                </a:lnTo>
                <a:lnTo>
                  <a:pt x="0" y="2014164"/>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4" name="Freeform 14"/>
          <p:cNvSpPr/>
          <p:nvPr/>
        </p:nvSpPr>
        <p:spPr>
          <a:xfrm flipV="1">
            <a:off x="1781952" y="5436076"/>
            <a:ext cx="3656164" cy="3190003"/>
          </a:xfrm>
          <a:custGeom>
            <a:avLst/>
            <a:gdLst/>
            <a:ahLst/>
            <a:cxnLst/>
            <a:rect l="l" t="t" r="r" b="b"/>
            <a:pathLst>
              <a:path w="3656164" h="3190003">
                <a:moveTo>
                  <a:pt x="0" y="3190003"/>
                </a:moveTo>
                <a:lnTo>
                  <a:pt x="3656164" y="3190003"/>
                </a:lnTo>
                <a:lnTo>
                  <a:pt x="3656164" y="0"/>
                </a:lnTo>
                <a:lnTo>
                  <a:pt x="0" y="0"/>
                </a:lnTo>
                <a:lnTo>
                  <a:pt x="0" y="3190003"/>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5" name="Freeform 15"/>
          <p:cNvSpPr/>
          <p:nvPr/>
        </p:nvSpPr>
        <p:spPr>
          <a:xfrm>
            <a:off x="1781952" y="779341"/>
            <a:ext cx="3656164" cy="3190003"/>
          </a:xfrm>
          <a:custGeom>
            <a:avLst/>
            <a:gdLst/>
            <a:ahLst/>
            <a:cxnLst/>
            <a:rect l="l" t="t" r="r" b="b"/>
            <a:pathLst>
              <a:path w="3656164" h="3190003">
                <a:moveTo>
                  <a:pt x="0" y="0"/>
                </a:moveTo>
                <a:lnTo>
                  <a:pt x="3656164" y="0"/>
                </a:lnTo>
                <a:lnTo>
                  <a:pt x="3656164" y="3190003"/>
                </a:lnTo>
                <a:lnTo>
                  <a:pt x="0" y="319000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8" name="TextBox 17">
            <a:extLst>
              <a:ext uri="{FF2B5EF4-FFF2-40B4-BE49-F238E27FC236}">
                <a16:creationId xmlns:a16="http://schemas.microsoft.com/office/drawing/2014/main" id="{6A266747-83DD-248B-2A4A-A27B729EF59A}"/>
              </a:ext>
            </a:extLst>
          </p:cNvPr>
          <p:cNvSpPr txBox="1"/>
          <p:nvPr/>
        </p:nvSpPr>
        <p:spPr>
          <a:xfrm>
            <a:off x="7171752" y="2628900"/>
            <a:ext cx="10950071" cy="4801314"/>
          </a:xfrm>
          <a:prstGeom prst="rect">
            <a:avLst/>
          </a:prstGeom>
          <a:noFill/>
        </p:spPr>
        <p:txBody>
          <a:bodyPr wrap="square" rtlCol="0">
            <a:spAutoFit/>
          </a:bodyPr>
          <a:lstStyle/>
          <a:p>
            <a:pPr marL="457200" indent="-457200">
              <a:buFont typeface="Arial" panose="020B0604020202020204" pitchFamily="34" charset="0"/>
              <a:buChar char="•"/>
            </a:pPr>
            <a:r>
              <a:rPr lang="en-US" sz="3200" dirty="0">
                <a:solidFill>
                  <a:schemeClr val="bg1"/>
                </a:solidFill>
              </a:rPr>
              <a:t>The model accurately predicts </a:t>
            </a:r>
            <a:r>
              <a:rPr lang="en-US" sz="3200" b="1" dirty="0">
                <a:solidFill>
                  <a:schemeClr val="bg1"/>
                </a:solidFill>
              </a:rPr>
              <a:t>arrival delay minutes</a:t>
            </a:r>
            <a:r>
              <a:rPr lang="en-US" sz="3200" dirty="0">
                <a:solidFill>
                  <a:schemeClr val="bg1"/>
                </a:solidFill>
              </a:rPr>
              <a:t>, with </a:t>
            </a:r>
            <a:r>
              <a:rPr lang="en-US" sz="3200" dirty="0" err="1">
                <a:solidFill>
                  <a:schemeClr val="bg1"/>
                </a:solidFill>
              </a:rPr>
              <a:t>CatBoost</a:t>
            </a:r>
            <a:r>
              <a:rPr lang="en-US" sz="3200" dirty="0">
                <a:solidFill>
                  <a:schemeClr val="bg1"/>
                </a:solidFill>
              </a:rPr>
              <a:t> achieving </a:t>
            </a:r>
            <a:r>
              <a:rPr lang="en-US" sz="3200" b="1" dirty="0">
                <a:solidFill>
                  <a:schemeClr val="bg1"/>
                </a:solidFill>
              </a:rPr>
              <a:t>R² ≈ 0.99</a:t>
            </a:r>
            <a:r>
              <a:rPr lang="en-US" sz="3200" dirty="0">
                <a:solidFill>
                  <a:schemeClr val="bg1"/>
                </a:solidFill>
              </a:rPr>
              <a:t>, meaning near-perfect explanatory power.</a:t>
            </a:r>
          </a:p>
          <a:p>
            <a:pPr marL="457200" indent="-457200">
              <a:buFont typeface="Arial" panose="020B0604020202020204" pitchFamily="34" charset="0"/>
              <a:buChar char="•"/>
            </a:pPr>
            <a:r>
              <a:rPr lang="en-US" sz="3200" dirty="0">
                <a:solidFill>
                  <a:schemeClr val="bg1"/>
                </a:solidFill>
              </a:rPr>
              <a:t>Low RMSE/MAE show that predictions closely match real delays, making the model reliable for real-world use.</a:t>
            </a:r>
          </a:p>
          <a:p>
            <a:pPr marL="457200" indent="-457200">
              <a:buFont typeface="Arial" panose="020B0604020202020204" pitchFamily="34" charset="0"/>
              <a:buChar char="•"/>
            </a:pPr>
            <a:r>
              <a:rPr lang="en-US" sz="3200" dirty="0">
                <a:solidFill>
                  <a:schemeClr val="bg1"/>
                </a:solidFill>
              </a:rPr>
              <a:t>Helps airlines anticipate delays earlier and plan </a:t>
            </a:r>
            <a:r>
              <a:rPr lang="en-US" sz="3200" b="1" dirty="0">
                <a:solidFill>
                  <a:schemeClr val="bg1"/>
                </a:solidFill>
              </a:rPr>
              <a:t>staffing, gate assignments, and schedules</a:t>
            </a:r>
            <a:r>
              <a:rPr lang="en-US" sz="3200" dirty="0">
                <a:solidFill>
                  <a:schemeClr val="bg1"/>
                </a:solidFill>
              </a:rPr>
              <a:t> more efficiently.</a:t>
            </a:r>
          </a:p>
          <a:p>
            <a:pPr marL="457200" indent="-457200">
              <a:buFont typeface="Arial" panose="020B0604020202020204" pitchFamily="34" charset="0"/>
              <a:buChar char="•"/>
            </a:pPr>
            <a:r>
              <a:rPr lang="en-US" sz="3200" dirty="0">
                <a:solidFill>
                  <a:schemeClr val="bg1"/>
                </a:solidFill>
              </a:rPr>
              <a:t>Enables better </a:t>
            </a:r>
            <a:r>
              <a:rPr lang="en-US" sz="3200" b="1" dirty="0">
                <a:solidFill>
                  <a:schemeClr val="bg1"/>
                </a:solidFill>
              </a:rPr>
              <a:t>passenger communication</a:t>
            </a:r>
            <a:r>
              <a:rPr lang="en-US" sz="3200" dirty="0">
                <a:solidFill>
                  <a:schemeClr val="bg1"/>
                </a:solidFill>
              </a:rPr>
              <a:t> and overall improvement in operational decision-making.</a:t>
            </a:r>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F80A9"/>
        </a:solidFill>
        <a:effectLst/>
      </p:bgPr>
    </p:bg>
    <p:spTree>
      <p:nvGrpSpPr>
        <p:cNvPr id="1" name="">
          <a:extLst>
            <a:ext uri="{FF2B5EF4-FFF2-40B4-BE49-F238E27FC236}">
              <a16:creationId xmlns:a16="http://schemas.microsoft.com/office/drawing/2014/main" id="{77179671-A680-4757-AB58-689FDCE34B4C}"/>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698B4280-5A53-A66D-B684-49E9DCDF2F0F}"/>
              </a:ext>
            </a:extLst>
          </p:cNvPr>
          <p:cNvGrpSpPr/>
          <p:nvPr/>
        </p:nvGrpSpPr>
        <p:grpSpPr>
          <a:xfrm>
            <a:off x="4979579" y="2615918"/>
            <a:ext cx="7262037" cy="3601888"/>
            <a:chOff x="0" y="0"/>
            <a:chExt cx="1628282" cy="568079"/>
          </a:xfrm>
        </p:grpSpPr>
        <p:sp>
          <p:nvSpPr>
            <p:cNvPr id="3" name="Freeform 3">
              <a:extLst>
                <a:ext uri="{FF2B5EF4-FFF2-40B4-BE49-F238E27FC236}">
                  <a16:creationId xmlns:a16="http://schemas.microsoft.com/office/drawing/2014/main" id="{4E833342-9A7D-75F3-24E7-4AD2358EC4C4}"/>
                </a:ext>
              </a:extLst>
            </p:cNvPr>
            <p:cNvSpPr/>
            <p:nvPr/>
          </p:nvSpPr>
          <p:spPr>
            <a:xfrm>
              <a:off x="0" y="0"/>
              <a:ext cx="1628282" cy="568079"/>
            </a:xfrm>
            <a:custGeom>
              <a:avLst/>
              <a:gdLst/>
              <a:ahLst/>
              <a:cxnLst/>
              <a:rect l="l" t="t" r="r" b="b"/>
              <a:pathLst>
                <a:path w="1628282" h="568079">
                  <a:moveTo>
                    <a:pt x="0" y="0"/>
                  </a:moveTo>
                  <a:lnTo>
                    <a:pt x="1628282" y="0"/>
                  </a:lnTo>
                  <a:lnTo>
                    <a:pt x="1628282" y="568079"/>
                  </a:lnTo>
                  <a:lnTo>
                    <a:pt x="0" y="568079"/>
                  </a:lnTo>
                  <a:close/>
                </a:path>
              </a:pathLst>
            </a:custGeom>
            <a:solidFill>
              <a:srgbClr val="91BBE6"/>
            </a:solidFill>
          </p:spPr>
          <p:txBody>
            <a:bodyPr/>
            <a:lstStyle/>
            <a:p>
              <a:endParaRPr lang="en-US"/>
            </a:p>
          </p:txBody>
        </p:sp>
        <p:sp>
          <p:nvSpPr>
            <p:cNvPr id="4" name="TextBox 4">
              <a:extLst>
                <a:ext uri="{FF2B5EF4-FFF2-40B4-BE49-F238E27FC236}">
                  <a16:creationId xmlns:a16="http://schemas.microsoft.com/office/drawing/2014/main" id="{5F76AF98-A590-9074-55EC-8E2BCE1E6A71}"/>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C8111804-F2C3-9C45-A5E1-C24260C2BC1E}"/>
              </a:ext>
            </a:extLst>
          </p:cNvPr>
          <p:cNvGrpSpPr/>
          <p:nvPr/>
        </p:nvGrpSpPr>
        <p:grpSpPr>
          <a:xfrm>
            <a:off x="914400" y="-22178"/>
            <a:ext cx="11048998" cy="5960889"/>
            <a:chOff x="0" y="-38100"/>
            <a:chExt cx="2613401" cy="1277502"/>
          </a:xfrm>
        </p:grpSpPr>
        <p:sp>
          <p:nvSpPr>
            <p:cNvPr id="6" name="Freeform 6">
              <a:extLst>
                <a:ext uri="{FF2B5EF4-FFF2-40B4-BE49-F238E27FC236}">
                  <a16:creationId xmlns:a16="http://schemas.microsoft.com/office/drawing/2014/main" id="{B63E630A-819A-CEBD-733A-1DE51723C3EF}"/>
                </a:ext>
              </a:extLst>
            </p:cNvPr>
            <p:cNvSpPr/>
            <p:nvPr/>
          </p:nvSpPr>
          <p:spPr>
            <a:xfrm>
              <a:off x="1027337" y="587095"/>
              <a:ext cx="1586064" cy="652307"/>
            </a:xfrm>
            <a:custGeom>
              <a:avLst/>
              <a:gdLst/>
              <a:ahLst/>
              <a:cxnLst/>
              <a:rect l="l" t="t" r="r" b="b"/>
              <a:pathLst>
                <a:path w="1492217" h="481322">
                  <a:moveTo>
                    <a:pt x="0" y="0"/>
                  </a:moveTo>
                  <a:lnTo>
                    <a:pt x="1492217" y="0"/>
                  </a:lnTo>
                  <a:lnTo>
                    <a:pt x="1492217" y="481322"/>
                  </a:lnTo>
                  <a:lnTo>
                    <a:pt x="0" y="481322"/>
                  </a:lnTo>
                  <a:close/>
                </a:path>
              </a:pathLst>
            </a:custGeom>
            <a:solidFill>
              <a:srgbClr val="FFFFFF"/>
            </a:solidFill>
          </p:spPr>
          <p:txBody>
            <a:bodyPr/>
            <a:lstStyle/>
            <a:p>
              <a:endParaRPr lang="en-US" dirty="0"/>
            </a:p>
          </p:txBody>
        </p:sp>
        <p:sp>
          <p:nvSpPr>
            <p:cNvPr id="7" name="TextBox 7">
              <a:extLst>
                <a:ext uri="{FF2B5EF4-FFF2-40B4-BE49-F238E27FC236}">
                  <a16:creationId xmlns:a16="http://schemas.microsoft.com/office/drawing/2014/main" id="{9B1E3B59-A51E-F030-0E58-A4B4A24992F5}"/>
                </a:ext>
              </a:extLst>
            </p:cNvPr>
            <p:cNvSpPr txBox="1"/>
            <p:nvPr/>
          </p:nvSpPr>
          <p:spPr>
            <a:xfrm>
              <a:off x="0" y="-38100"/>
              <a:ext cx="812800" cy="850900"/>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a:extLst>
              <a:ext uri="{FF2B5EF4-FFF2-40B4-BE49-F238E27FC236}">
                <a16:creationId xmlns:a16="http://schemas.microsoft.com/office/drawing/2014/main" id="{13F88DA7-A4E0-9789-DAAD-4625E9509CC3}"/>
              </a:ext>
            </a:extLst>
          </p:cNvPr>
          <p:cNvSpPr/>
          <p:nvPr/>
        </p:nvSpPr>
        <p:spPr>
          <a:xfrm rot="504490">
            <a:off x="15110548" y="8779689"/>
            <a:ext cx="2456297" cy="2014164"/>
          </a:xfrm>
          <a:custGeom>
            <a:avLst/>
            <a:gdLst/>
            <a:ahLst/>
            <a:cxnLst/>
            <a:rect l="l" t="t" r="r" b="b"/>
            <a:pathLst>
              <a:path w="2456297" h="2014164">
                <a:moveTo>
                  <a:pt x="0" y="0"/>
                </a:moveTo>
                <a:lnTo>
                  <a:pt x="2456297" y="0"/>
                </a:lnTo>
                <a:lnTo>
                  <a:pt x="2456297" y="2014164"/>
                </a:lnTo>
                <a:lnTo>
                  <a:pt x="0" y="20141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9" name="Freeform 9">
            <a:extLst>
              <a:ext uri="{FF2B5EF4-FFF2-40B4-BE49-F238E27FC236}">
                <a16:creationId xmlns:a16="http://schemas.microsoft.com/office/drawing/2014/main" id="{1135271B-3A1C-A4DF-A15C-BAB11E47C652}"/>
              </a:ext>
            </a:extLst>
          </p:cNvPr>
          <p:cNvSpPr/>
          <p:nvPr/>
        </p:nvSpPr>
        <p:spPr>
          <a:xfrm rot="504490">
            <a:off x="16951755" y="8596029"/>
            <a:ext cx="2456297" cy="2014164"/>
          </a:xfrm>
          <a:custGeom>
            <a:avLst/>
            <a:gdLst/>
            <a:ahLst/>
            <a:cxnLst/>
            <a:rect l="l" t="t" r="r" b="b"/>
            <a:pathLst>
              <a:path w="2456297" h="2014164">
                <a:moveTo>
                  <a:pt x="0" y="0"/>
                </a:moveTo>
                <a:lnTo>
                  <a:pt x="2456297" y="0"/>
                </a:lnTo>
                <a:lnTo>
                  <a:pt x="2456297" y="2014163"/>
                </a:lnTo>
                <a:lnTo>
                  <a:pt x="0" y="201416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US"/>
          </a:p>
        </p:txBody>
      </p:sp>
      <p:sp>
        <p:nvSpPr>
          <p:cNvPr id="10" name="TextBox 10">
            <a:extLst>
              <a:ext uri="{FF2B5EF4-FFF2-40B4-BE49-F238E27FC236}">
                <a16:creationId xmlns:a16="http://schemas.microsoft.com/office/drawing/2014/main" id="{BE2BAA86-D025-B7BF-8AB8-D9726084E766}"/>
              </a:ext>
            </a:extLst>
          </p:cNvPr>
          <p:cNvSpPr txBox="1"/>
          <p:nvPr/>
        </p:nvSpPr>
        <p:spPr>
          <a:xfrm>
            <a:off x="5184157" y="3431758"/>
            <a:ext cx="5908259" cy="1883208"/>
          </a:xfrm>
          <a:prstGeom prst="rect">
            <a:avLst/>
          </a:prstGeom>
        </p:spPr>
        <p:txBody>
          <a:bodyPr wrap="square" lIns="0" tIns="0" rIns="0" bIns="0" rtlCol="0" anchor="t">
            <a:spAutoFit/>
          </a:bodyPr>
          <a:lstStyle/>
          <a:p>
            <a:pPr algn="ctr">
              <a:lnSpc>
                <a:spcPts val="7493"/>
              </a:lnSpc>
            </a:pPr>
            <a:r>
              <a:rPr lang="en-US" sz="6043" dirty="0">
                <a:solidFill>
                  <a:srgbClr val="000000"/>
                </a:solidFill>
                <a:latin typeface="Open Sans Extra Bold"/>
              </a:rPr>
              <a:t>Thank you</a:t>
            </a:r>
          </a:p>
          <a:p>
            <a:pPr algn="ctr">
              <a:lnSpc>
                <a:spcPts val="7493"/>
              </a:lnSpc>
            </a:pPr>
            <a:r>
              <a:rPr lang="en-US" sz="6043" dirty="0">
                <a:solidFill>
                  <a:srgbClr val="000000"/>
                </a:solidFill>
                <a:latin typeface="Open Sans Extra Bold"/>
              </a:rPr>
              <a:t>Questions?</a:t>
            </a:r>
          </a:p>
        </p:txBody>
      </p:sp>
      <p:sp>
        <p:nvSpPr>
          <p:cNvPr id="12" name="Freeform 8">
            <a:extLst>
              <a:ext uri="{FF2B5EF4-FFF2-40B4-BE49-F238E27FC236}">
                <a16:creationId xmlns:a16="http://schemas.microsoft.com/office/drawing/2014/main" id="{B37D8E18-3882-A3BC-1C4B-B5EB628E839E}"/>
              </a:ext>
            </a:extLst>
          </p:cNvPr>
          <p:cNvSpPr/>
          <p:nvPr/>
        </p:nvSpPr>
        <p:spPr>
          <a:xfrm rot="15316670" flipH="1" flipV="1">
            <a:off x="10661288" y="1560207"/>
            <a:ext cx="2604220" cy="2021493"/>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sp>
        <p:nvSpPr>
          <p:cNvPr id="13" name="Freeform 9">
            <a:extLst>
              <a:ext uri="{FF2B5EF4-FFF2-40B4-BE49-F238E27FC236}">
                <a16:creationId xmlns:a16="http://schemas.microsoft.com/office/drawing/2014/main" id="{34BE67A8-4421-8A7A-5AFB-CDFBD0445761}"/>
              </a:ext>
            </a:extLst>
          </p:cNvPr>
          <p:cNvSpPr/>
          <p:nvPr/>
        </p:nvSpPr>
        <p:spPr>
          <a:xfrm rot="16921343" flipH="1">
            <a:off x="10489406" y="1579620"/>
            <a:ext cx="2517839" cy="1982668"/>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dirty="0"/>
          </a:p>
        </p:txBody>
      </p:sp>
      <p:pic>
        <p:nvPicPr>
          <p:cNvPr id="1026" name="Picture 2" descr="Students as Questioners 1: What's a ...">
            <a:extLst>
              <a:ext uri="{FF2B5EF4-FFF2-40B4-BE49-F238E27FC236}">
                <a16:creationId xmlns:a16="http://schemas.microsoft.com/office/drawing/2014/main" id="{79BBF775-46F0-D37B-D81F-73E4A6C834B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363198" y="4166391"/>
            <a:ext cx="1600200" cy="1647807"/>
          </a:xfrm>
          <a:prstGeom prst="rect">
            <a:avLst/>
          </a:prstGeom>
          <a:noFill/>
          <a:extLst>
            <a:ext uri="{909E8E84-426E-40DD-AFC4-6F175D3DCCD1}">
              <a14:hiddenFill xmlns:a14="http://schemas.microsoft.com/office/drawing/2010/main">
                <a:solidFill>
                  <a:srgbClr val="FFFFFF"/>
                </a:solidFill>
              </a14:hiddenFill>
            </a:ext>
          </a:extLst>
        </p:spPr>
      </p:pic>
      <p:sp>
        <p:nvSpPr>
          <p:cNvPr id="11" name="Freeform 8">
            <a:extLst>
              <a:ext uri="{FF2B5EF4-FFF2-40B4-BE49-F238E27FC236}">
                <a16:creationId xmlns:a16="http://schemas.microsoft.com/office/drawing/2014/main" id="{CDB72CA2-3967-7D80-A62E-8F6B2F8C9D46}"/>
              </a:ext>
            </a:extLst>
          </p:cNvPr>
          <p:cNvSpPr/>
          <p:nvPr/>
        </p:nvSpPr>
        <p:spPr>
          <a:xfrm rot="15316670" flipV="1">
            <a:off x="3717129" y="4135845"/>
            <a:ext cx="2446859" cy="2252449"/>
          </a:xfrm>
          <a:custGeom>
            <a:avLst/>
            <a:gdLst/>
            <a:ahLst/>
            <a:cxnLst/>
            <a:rect l="l" t="t" r="r" b="b"/>
            <a:pathLst>
              <a:path w="2465127" h="2150824">
                <a:moveTo>
                  <a:pt x="0" y="2150824"/>
                </a:moveTo>
                <a:lnTo>
                  <a:pt x="2465127" y="2150824"/>
                </a:lnTo>
                <a:lnTo>
                  <a:pt x="2465127" y="0"/>
                </a:lnTo>
                <a:lnTo>
                  <a:pt x="0" y="0"/>
                </a:lnTo>
                <a:lnTo>
                  <a:pt x="0" y="2150824"/>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
        <p:nvSpPr>
          <p:cNvPr id="14" name="Freeform 9">
            <a:extLst>
              <a:ext uri="{FF2B5EF4-FFF2-40B4-BE49-F238E27FC236}">
                <a16:creationId xmlns:a16="http://schemas.microsoft.com/office/drawing/2014/main" id="{3D212995-F25B-576B-8079-F7D496CC22AE}"/>
              </a:ext>
            </a:extLst>
          </p:cNvPr>
          <p:cNvSpPr/>
          <p:nvPr/>
        </p:nvSpPr>
        <p:spPr>
          <a:xfrm rot="16921343">
            <a:off x="3625879" y="4057535"/>
            <a:ext cx="2323635" cy="2409071"/>
          </a:xfrm>
          <a:custGeom>
            <a:avLst/>
            <a:gdLst/>
            <a:ahLst/>
            <a:cxnLst/>
            <a:rect l="l" t="t" r="r" b="b"/>
            <a:pathLst>
              <a:path w="2465127" h="2150824">
                <a:moveTo>
                  <a:pt x="0" y="0"/>
                </a:moveTo>
                <a:lnTo>
                  <a:pt x="2465127" y="0"/>
                </a:lnTo>
                <a:lnTo>
                  <a:pt x="2465127" y="2150823"/>
                </a:lnTo>
                <a:lnTo>
                  <a:pt x="0" y="21508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extLst>
      <p:ext uri="{BB962C8B-B14F-4D97-AF65-F5344CB8AC3E}">
        <p14:creationId xmlns:p14="http://schemas.microsoft.com/office/powerpoint/2010/main" val="28986643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4013</TotalTime>
  <Words>711</Words>
  <Application>Microsoft Office PowerPoint</Application>
  <PresentationFormat>Custom</PresentationFormat>
  <Paragraphs>97</Paragraphs>
  <Slides>16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Open Sans Extra Bold</vt:lpstr>
      <vt:lpstr>Lemon Tuesday</vt:lpstr>
      <vt:lpstr>Calibri</vt:lpstr>
      <vt:lpstr>Arial</vt:lpstr>
      <vt:lpstr>Open Sans Bold</vt:lpstr>
      <vt:lpstr>Open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Blue and White Modern Travel Agency Presentation</dc:title>
  <cp:lastModifiedBy>Bhavana Reddy Bajjuri</cp:lastModifiedBy>
  <cp:revision>11</cp:revision>
  <dcterms:created xsi:type="dcterms:W3CDTF">2006-08-16T00:00:00Z</dcterms:created>
  <dcterms:modified xsi:type="dcterms:W3CDTF">2025-11-29T22:07:18Z</dcterms:modified>
  <dc:identifier>DAFxIauUZaY</dc:identifier>
</cp:coreProperties>
</file>